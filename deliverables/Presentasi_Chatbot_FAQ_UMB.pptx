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285d9829ae4d07" /><Relationship Type="http://schemas.openxmlformats.org/officeDocument/2006/relationships/extended-properties" Target="/docProps/app.xml" Id="R06fbf45ef2994d0b" /><Relationship Type="http://schemas.openxmlformats.org/officeDocument/2006/relationships/officeDocument" Target="/ppt/presentation.xml" Id="R7edb82b4b2bd4b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5f7d546e8f4ff6"/>
  </p:sldMasterIdLst>
  <p:notesMasterIdLst>
    <p:notesMasterId xmlns:r="http://schemas.openxmlformats.org/officeDocument/2006/relationships" r:id="Rcce6ee4043b94d71"/>
  </p:notesMasterIdLst>
  <p:sldIdLst>
    <p:sldId xmlns:r="http://schemas.openxmlformats.org/officeDocument/2006/relationships" id="256" r:id="R73013f1df12f4cfe"/>
    <p:sldId xmlns:r="http://schemas.openxmlformats.org/officeDocument/2006/relationships" id="257" r:id="Rb0f28d7686ff4f83"/>
    <p:sldId xmlns:r="http://schemas.openxmlformats.org/officeDocument/2006/relationships" id="258" r:id="R2e3e392b417145ef"/>
    <p:sldId xmlns:r="http://schemas.openxmlformats.org/officeDocument/2006/relationships" id="259" r:id="R5067704000314aeb"/>
    <p:sldId xmlns:r="http://schemas.openxmlformats.org/officeDocument/2006/relationships" id="260" r:id="R9709717260e24ed0"/>
    <p:sldId xmlns:r="http://schemas.openxmlformats.org/officeDocument/2006/relationships" id="261" r:id="R928d9d9bf3024676"/>
    <p:sldId xmlns:r="http://schemas.openxmlformats.org/officeDocument/2006/relationships" id="262" r:id="R405d757c6fb84b42"/>
    <p:sldId xmlns:r="http://schemas.openxmlformats.org/officeDocument/2006/relationships" id="263" r:id="Rc0ff89e7d8a647db"/>
    <p:sldId xmlns:r="http://schemas.openxmlformats.org/officeDocument/2006/relationships" id="264" r:id="Rdce0c660c3ae4fbc"/>
    <p:sldId xmlns:r="http://schemas.openxmlformats.org/officeDocument/2006/relationships" id="265" r:id="Re1f11778d67846e7"/>
    <p:sldId xmlns:r="http://schemas.openxmlformats.org/officeDocument/2006/relationships" id="266" r:id="Rc6220ee8fecd45b8"/>
    <p:sldId xmlns:r="http://schemas.openxmlformats.org/officeDocument/2006/relationships" id="267" r:id="Rb9e753232cd74ebd"/>
    <p:sldId xmlns:r="http://schemas.openxmlformats.org/officeDocument/2006/relationships" id="268" r:id="R5ad647d8b5284efe"/>
    <p:sldId xmlns:r="http://schemas.openxmlformats.org/officeDocument/2006/relationships" id="269" r:id="R10f0e77f6f8e4d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2d77c638bd418c" /><Relationship Type="http://schemas.openxmlformats.org/officeDocument/2006/relationships/slideMaster" Target="/ppt/slideMasters/slideMaster1.xml" Id="R435f7d546e8f4ff6" /><Relationship Type="http://schemas.openxmlformats.org/officeDocument/2006/relationships/notesMaster" Target="/ppt/notesMasters/notesMaster1.xml" Id="Rcce6ee4043b94d71" /><Relationship Type="http://schemas.openxmlformats.org/officeDocument/2006/relationships/presProps" Target="/ppt/presProps.xml" Id="R81e3aa84f8d445d8" /><Relationship Type="http://schemas.openxmlformats.org/officeDocument/2006/relationships/tableStyles" Target="/ppt/tableStyles.xml" Id="Rff734f899e2c4dcc" /><Relationship Type="http://schemas.openxmlformats.org/officeDocument/2006/relationships/slide" Target="/ppt/slides/slide1.xml" Id="R73013f1df12f4cfe" /><Relationship Type="http://schemas.openxmlformats.org/officeDocument/2006/relationships/slide" Target="/ppt/slides/slide2.xml" Id="Rb0f28d7686ff4f83" /><Relationship Type="http://schemas.openxmlformats.org/officeDocument/2006/relationships/slide" Target="/ppt/slides/slide3.xml" Id="R2e3e392b417145ef" /><Relationship Type="http://schemas.openxmlformats.org/officeDocument/2006/relationships/slide" Target="/ppt/slides/slide4.xml" Id="R5067704000314aeb" /><Relationship Type="http://schemas.openxmlformats.org/officeDocument/2006/relationships/slide" Target="/ppt/slides/slide5.xml" Id="R9709717260e24ed0" /><Relationship Type="http://schemas.openxmlformats.org/officeDocument/2006/relationships/slide" Target="/ppt/slides/slide6.xml" Id="R928d9d9bf3024676" /><Relationship Type="http://schemas.openxmlformats.org/officeDocument/2006/relationships/slide" Target="/ppt/slides/slide7.xml" Id="R405d757c6fb84b42" /><Relationship Type="http://schemas.openxmlformats.org/officeDocument/2006/relationships/slide" Target="/ppt/slides/slide8.xml" Id="Rc0ff89e7d8a647db" /><Relationship Type="http://schemas.openxmlformats.org/officeDocument/2006/relationships/slide" Target="/ppt/slides/slide9.xml" Id="Rdce0c660c3ae4fbc" /><Relationship Type="http://schemas.openxmlformats.org/officeDocument/2006/relationships/slide" Target="/ppt/slides/slide10.xml" Id="Re1f11778d67846e7" /><Relationship Type="http://schemas.openxmlformats.org/officeDocument/2006/relationships/slide" Target="/ppt/slides/slide11.xml" Id="Rc6220ee8fecd45b8" /><Relationship Type="http://schemas.openxmlformats.org/officeDocument/2006/relationships/slide" Target="/ppt/slides/slide12.xml" Id="Rb9e753232cd74ebd" /><Relationship Type="http://schemas.openxmlformats.org/officeDocument/2006/relationships/slide" Target="/ppt/slides/slide13.xml" Id="R5ad647d8b5284efe" /><Relationship Type="http://schemas.openxmlformats.org/officeDocument/2006/relationships/slide" Target="/ppt/slides/slide14.xml" Id="R10f0e77f6f8e4d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34ac2f1f1940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f8c55bea2c4c16" /><Relationship Type="http://schemas.openxmlformats.org/officeDocument/2006/relationships/notesMaster" Target="/ppt/notesMasters/notesMaster1.xml" Id="R27b24c52816e4c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7de645841442af" /><Relationship Type="http://schemas.openxmlformats.org/officeDocument/2006/relationships/notesMaster" Target="/ppt/notesMasters/notesMaster1.xml" Id="Rb5ec4d9a39db44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fa09d2844e4b34" /><Relationship Type="http://schemas.openxmlformats.org/officeDocument/2006/relationships/notesMaster" Target="/ppt/notesMasters/notesMaster1.xml" Id="R8334c67ccaaf47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ecbea329eb4646" /><Relationship Type="http://schemas.openxmlformats.org/officeDocument/2006/relationships/notesMaster" Target="/ppt/notesMasters/notesMaster1.xml" Id="R8ba1d9a0941644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f8701c2aa84ff8" /><Relationship Type="http://schemas.openxmlformats.org/officeDocument/2006/relationships/notesMaster" Target="/ppt/notesMasters/notesMaster1.xml" Id="R46d93decedc444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c7259a5f6d4d96" /><Relationship Type="http://schemas.openxmlformats.org/officeDocument/2006/relationships/notesMaster" Target="/ppt/notesMasters/notesMaster1.xml" Id="Rc5d0a14c303b43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a36ac6b7a5462c" /><Relationship Type="http://schemas.openxmlformats.org/officeDocument/2006/relationships/notesMaster" Target="/ppt/notesMasters/notesMaster1.xml" Id="R5c76b5621efb43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37c769d4844fee" /><Relationship Type="http://schemas.openxmlformats.org/officeDocument/2006/relationships/notesMaster" Target="/ppt/notesMasters/notesMaster1.xml" Id="Reb8f00188cb645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5f5606b426497f" /><Relationship Type="http://schemas.openxmlformats.org/officeDocument/2006/relationships/notesMaster" Target="/ppt/notesMasters/notesMaster1.xml" Id="R6982be82d46845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a7ca4929b84d67" /><Relationship Type="http://schemas.openxmlformats.org/officeDocument/2006/relationships/notesMaster" Target="/ppt/notesMasters/notesMaster1.xml" Id="R95a109e98ce540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6681ecded443b5" /><Relationship Type="http://schemas.openxmlformats.org/officeDocument/2006/relationships/notesMaster" Target="/ppt/notesMasters/notesMaster1.xml" Id="Rc12ba502f38445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a3434c06624561" /><Relationship Type="http://schemas.openxmlformats.org/officeDocument/2006/relationships/notesMaster" Target="/ppt/notesMasters/notesMaster1.xml" Id="Rfea8d232c01a4e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e618f3159045f8" /><Relationship Type="http://schemas.openxmlformats.org/officeDocument/2006/relationships/notesMaster" Target="/ppt/notesMasters/notesMaster1.xml" Id="Rd2e49d4dcdf84c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17ee353e004bc3" /><Relationship Type="http://schemas.openxmlformats.org/officeDocument/2006/relationships/notesMaster" Target="/ppt/notesMasters/notesMaster1.xml" Id="Rb4b55496315346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Pembuka: jelaskan bahwa sistem tersedia melalui CLI dan web.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specification and evaluation artifacts (accessed 2026-07-27).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problem statement in docs/superpowers/specs/2026-07-27-chatbot-faq-akademik-design.md (accessed 2026-07-27).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requirements derived from the UAS rubric and project implementation (accessed 2026-07-27).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architecture implemented in preprocessing.py, train_eval.py, dialog_manager.py, cli_app.py, ui_app.py, and chat_logger.py (accessed 2026-07-27).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state machine implemented in dialog_manager.py (accessed 2026-07-27).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dataset distribution from dataset_faq.json and artifacts/evaluation/dataset_distribution.csv (accessed 2026-07-27).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preprocessing examples from artifacts/evaluation/preprocessing_examples.csv and preprocessing.py (accessed 2026-07-27).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Scikit-learn TfidfVectorizer documentation: https://scikit-learn.org/stable/modules/generated/sklearn.feature_extraction.text.TfidfVectorizer.html (accessed 2026-07-27).</a:t>
            </a:r>
          </a:p>
          <a:p xmlns:a="http://schemas.openxmlformats.org/drawingml/2006/main">
            <a:r>
              <a:t>- Scikit-learn LogisticRegression documentation: https://scikit-learn.org/stable/modules/generated/sklearn.linear_model.LogisticRegression.html (accessed 2026-07-27).</a:t>
            </a:r>
          </a:p>
          <a:p xmlns:a="http://schemas.openxmlformats.org/drawingml/2006/main">
            <a:r>
              <a:t>- Internal implementation in train_eval.py (accessed 2026-07-27).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slot and conversation-state implementation in dialog_manager.py and chat_logger.py (accessed 2026-07-27).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Streamlit chat elements documentation: https://docs.streamlit.io/develop/api-reference/chat (accessed 2026-07-27).</a:t>
            </a:r>
          </a:p>
          <a:p xmlns:a="http://schemas.openxmlformats.org/drawingml/2006/main">
            <a:r>
              <a:t>- Internal implementation in cli_app.py and ui_app.py (accessed 2026-07-27).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metrics from artifacts/evaluation/evaluation_summary.json and classification_report.csv (accessed 2026-07-27).</a:t>
            </a:r>
          </a:p>
          <a:p xmlns:a="http://schemas.openxmlformats.org/drawingml/2006/main">
            <a:r>
              <a:t>- Scikit-learn model evaluation guide: https://scikit-learn.org/stable/modules/model_evaluation.html (accessed 2026-07-27).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confusion matrix and misclassification record from artifacts/evaluation/confusion_matrix.png and misclassified_examples.csv (accessed 2026-07-27).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Durasi demo yang disarankan: 3–4 menit dari total video 5–10 menit.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demo plan derived from the UAS requirement and implemented flows (accessed 2026-07-27).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Penutup: tekankan bahwa 98% adalah hasil data uji internal, bukan klaim produksi.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conclusion based on project implementation and test artifacts (accessed 2026-07-27).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03945da3d4e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2ca8eba8244c1b" /><Relationship Type="http://schemas.openxmlformats.org/officeDocument/2006/relationships/slideLayout" Target="/ppt/slideLayouts/slideLayout1.xml" Id="Rfd9fdc5a1b414e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9fdc5a1b414e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4bc9438ce44fa0" /><Relationship Type="http://schemas.openxmlformats.org/officeDocument/2006/relationships/notesSlide" Target="/ppt/notesSlides/notesSlide1.xml" Id="R52ad601456b141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fa6a58d344180" /><Relationship Type="http://schemas.openxmlformats.org/officeDocument/2006/relationships/notesSlide" Target="/ppt/notesSlides/notesSlide2.xml" Id="Rb3bdbe41599843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cba5208564f03" /><Relationship Type="http://schemas.openxmlformats.org/officeDocument/2006/relationships/notesSlide" Target="/ppt/notesSlides/notesSlide3.xml" Id="R508552734ac24b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e23b1407845db" /><Relationship Type="http://schemas.openxmlformats.org/officeDocument/2006/relationships/notesSlide" Target="/ppt/notesSlides/notesSlide4.xml" Id="Rd029a069111b47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dd0807ae048f2" /><Relationship Type="http://schemas.openxmlformats.org/officeDocument/2006/relationships/notesSlide" Target="/ppt/notesSlides/notesSlide5.xml" Id="R06a0d236b29845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b4629321742f9" /><Relationship Type="http://schemas.openxmlformats.org/officeDocument/2006/relationships/notesSlide" Target="/ppt/notesSlides/notesSlide6.xml" Id="R9f57868de47c44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6c5823e9b436f" /><Relationship Type="http://schemas.openxmlformats.org/officeDocument/2006/relationships/notesSlide" Target="/ppt/notesSlides/notesSlide7.xml" Id="R23dcd94e6c624b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d820e95c34450" /><Relationship Type="http://schemas.openxmlformats.org/officeDocument/2006/relationships/notesSlide" Target="/ppt/notesSlides/notesSlide8.xml" Id="R911c0edbbe4c44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80bc519ed4111" /><Relationship Type="http://schemas.openxmlformats.org/officeDocument/2006/relationships/notesSlide" Target="/ppt/notesSlides/notesSlide9.xml" Id="Re114ec7ac03141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27b076f32440a" /><Relationship Type="http://schemas.openxmlformats.org/officeDocument/2006/relationships/notesSlide" Target="/ppt/notesSlides/notesSlide10.xml" Id="R37c2d5d437e649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a65527f974edb" /><Relationship Type="http://schemas.openxmlformats.org/officeDocument/2006/relationships/notesSlide" Target="/ppt/notesSlides/notesSlide11.xml" Id="Rf516e5b17d4c47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fc4083fef4541" /><Relationship Type="http://schemas.openxmlformats.org/officeDocument/2006/relationships/image" Target="/ppt/media/image.png" Id="R83f34e24ea3a45ed" /><Relationship Type="http://schemas.openxmlformats.org/officeDocument/2006/relationships/notesSlide" Target="/ppt/notesSlides/notesSlide12.xml" Id="Rfb7e047303a042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37d57c111468b" /><Relationship Type="http://schemas.openxmlformats.org/officeDocument/2006/relationships/notesSlide" Target="/ppt/notesSlides/notesSlide13.xml" Id="Rdf5ed42968304c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3ee8f40b948ef" /><Relationship Type="http://schemas.openxmlformats.org/officeDocument/2006/relationships/notesSlide" Target="/ppt/notesSlides/notesSlide14.xml" Id="Ra62f63d3f94f48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F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2E008-4861-4F7E-8296-D7733B83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3DF41-3B8E-49DD-B2F4-FF160F7D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2B84B"/>
                </a:solidFill>
              </a:defRPr>
            </a:pPr>
            <a:r>
              <a:rPr sz="975" b="1" i="0">
                <a:solidFill>
                  <a:srgbClr val="F2B84B"/>
                </a:solidFill>
              </a:rPr>
              <a:t>PROJECT AKHIR • NATURAL LANGUAGE 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0079E-793F-41D1-A920-B408739C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524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Chatbot FAQ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Akademik Kampus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71FDB-B56B-4479-8A88-348EC1A5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 i="0">
                <a:solidFill>
                  <a:srgbClr val="D8E3EF"/>
                </a:solidFill>
              </a:defRPr>
            </a:pPr>
            <a:r>
              <a:rPr sz="1575" b="0" i="0">
                <a:solidFill>
                  <a:srgbClr val="D8E3EF"/>
                </a:solidFill>
              </a:rPr>
              <a:t>Klasifikasi intent, slot filling, dan dialog multi-turn untuk layanan akademik Universitas Mercu Buana.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7B637-5DB4-4AF7-B948-68795642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85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C66"/>
          </a:solidFill>
          <a:ln xmlns:a="http://schemas.openxmlformats.org/drawingml/2006/main" w="0">
            <a:solidFill>
              <a:srgbClr val="173C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TF-IDF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69627-5715-4EA9-AAB0-44FF35FC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72000"/>
            <a:ext cx="2076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C66"/>
          </a:solidFill>
          <a:ln xmlns:a="http://schemas.openxmlformats.org/drawingml/2006/main" w="0">
            <a:solidFill>
              <a:srgbClr val="173C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LOGISTIC REGRESSION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A1D05-F26F-4BE7-8705-03A6BB9E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7200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F3D"/>
                </a:solidFill>
              </a:defRPr>
            </a:pPr>
            <a:r>
              <a:rPr sz="900" b="1">
                <a:solidFill>
                  <a:srgbClr val="071F3D"/>
                </a:solidFill>
              </a:rPr>
              <a:t>STREAMLIT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C4178-B47D-4C33-B232-5F19417C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066800"/>
            <a:ext cx="2857500" cy="42481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B50"/>
          </a:solidFill>
          <a:ln xmlns:a="http://schemas.openxmlformats.org/drawingml/2006/main" w="9525">
            <a:solidFill>
              <a:srgbClr val="31567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01139-47EB-4BDB-ACF4-2125ECC8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19250"/>
            <a:ext cx="2095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UMB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ACADEMIC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F8F8E-4807-40F2-9527-E2E3F42B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43300"/>
            <a:ext cx="1790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CF322-4CEA-4B0F-8EC1-68ABA31E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90950"/>
            <a:ext cx="1943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D8E3EF"/>
                </a:solidFill>
              </a:defRPr>
            </a:pPr>
            <a:r>
              <a:rPr sz="1500" b="0" i="0">
                <a:solidFill>
                  <a:srgbClr val="D8E3EF"/>
                </a:solidFill>
              </a:rPr>
              <a:t>250 utterances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D8E3EF"/>
                </a:solidFill>
              </a:defRPr>
            </a:pPr>
            <a:r>
              <a:rPr sz="1500" b="0" i="0">
                <a:solidFill>
                  <a:srgbClr val="D8E3EF"/>
                </a:solidFill>
              </a:rPr>
              <a:t>5 intents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500" b="0" i="0">
                <a:solidFill>
                  <a:srgbClr val="D8E3EF"/>
                </a:solidFill>
              </a:defRPr>
            </a:pPr>
            <a:r>
              <a:rPr sz="1500" b="0" i="0">
                <a:solidFill>
                  <a:srgbClr val="D8E3EF"/>
                </a:solidFill>
              </a:rPr>
              <a:t>98%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508D7-9931-44DC-9DBB-5DCC09DE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AFC2D6"/>
                </a:solidFill>
              </a:defRPr>
            </a:pPr>
            <a:r>
              <a:rPr sz="1125" b="0" i="0">
                <a:solidFill>
                  <a:srgbClr val="AFC2D6"/>
                </a:solidFill>
              </a:rPr>
              <a:t>Anggota 1 • Anggota 2 • Anggota 3</a:t>
            </a:r>
          </a:p>
        </p:txBody>
      </p:sp>
    </p:spTree>
    <p:extLst>
      <p:ext uri="{BB962C8B-B14F-4D97-AF65-F5344CB8AC3E}">
        <p14:creationId xmlns:p14="http://schemas.microsoft.com/office/powerpoint/2010/main" val="4977679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DBBB2-3FDE-478F-9BB5-F6FA07A2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CHATBOT FAQ AKADEMIK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B4510-255A-4D0C-B2DF-53866AD9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5D6A78"/>
                </a:solidFill>
              </a:defRPr>
            </a:pPr>
            <a:r>
              <a:rPr sz="1050" b="1" i="0">
                <a:solidFill>
                  <a:srgbClr val="5D6A78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9512A-D82C-400C-A9E4-CA024E17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071F3D"/>
                </a:solidFill>
              </a:defRPr>
            </a:pPr>
            <a:r>
              <a:rPr sz="2700" b="1" i="0">
                <a:solidFill>
                  <a:srgbClr val="071F3D"/>
                </a:solidFill>
              </a:rPr>
              <a:t>Masalah yang ingin diselesaikan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9F505-21DA-4062-B7EF-41C5457F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042CE-6924-4582-92F8-B9A5B7F7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515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071F3D"/>
                </a:solidFill>
              </a:defRPr>
            </a:pPr>
            <a:r>
              <a:rPr sz="2025" b="1" i="0">
                <a:solidFill>
                  <a:srgbClr val="071F3D"/>
                </a:solidFill>
              </a:rPr>
              <a:t>Pertanyaan akademik berulang membutuhkan jawaban yang cepat, konsisten, dan tersedia di luar jam layanan.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B9AA8-6F78-41DA-9E18-71F651AF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3528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2F3E6-5B55-4347-9793-3EDEE031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F2B84B"/>
                </a:solidFill>
              </a:defRPr>
            </a:pPr>
            <a:r>
              <a:rPr sz="2250" b="1" i="0">
                <a:solidFill>
                  <a:srgbClr val="F2B84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0B87B-D0D5-45D6-8BC0-7CE7507B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71F3D"/>
                </a:solidFill>
              </a:defRPr>
            </a:pPr>
            <a:r>
              <a:rPr sz="1575" b="1" i="0">
                <a:solidFill>
                  <a:srgbClr val="071F3D"/>
                </a:solidFill>
              </a:rPr>
              <a:t>Informasi tersebar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532F3-B6C3-4C3D-A9CD-9AD36D60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5D6A78"/>
                </a:solidFill>
              </a:defRPr>
            </a:pPr>
            <a:r>
              <a:rPr sz="1275" b="0" i="0">
                <a:solidFill>
                  <a:srgbClr val="5D6A78"/>
                </a:solidFill>
              </a:rPr>
              <a:t>Mahasiswa harus mencari sumber berbeda untuk KRS, UKT, ujian, beasiswa, dan portal.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9A6EB-F630-404F-BB6A-122B1F3D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33528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05CF7-289D-4044-A46F-7DE503A4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813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F2B84B"/>
                </a:solidFill>
              </a:defRPr>
            </a:pPr>
            <a:r>
              <a:rPr sz="2250" b="1" i="0">
                <a:solidFill>
                  <a:srgbClr val="F2B84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781A9-DCD3-44B1-ABFE-F161F149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338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71F3D"/>
                </a:solidFill>
              </a:defRPr>
            </a:pPr>
            <a:r>
              <a:rPr sz="1575" b="1" i="0">
                <a:solidFill>
                  <a:srgbClr val="071F3D"/>
                </a:solidFill>
              </a:rPr>
              <a:t>Respons tidak selalu instan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117F8-A9F5-4807-9FEB-B7866509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0530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5D6A78"/>
                </a:solidFill>
              </a:defRPr>
            </a:pPr>
            <a:r>
              <a:rPr sz="1275" b="0" i="0">
                <a:solidFill>
                  <a:srgbClr val="5D6A78"/>
                </a:solidFill>
              </a:rPr>
              <a:t>Pertanyaan sederhana tetap menunggu petugas atau jam kerja layanan.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9591C-559A-481E-9132-6491F84C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33528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EFFF8-168B-47CB-9C35-CA0EE41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F2B84B"/>
                </a:solidFill>
              </a:defRPr>
            </a:pPr>
            <a:r>
              <a:rPr sz="2250" b="1" i="0">
                <a:solidFill>
                  <a:srgbClr val="F2B84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14493-2049-4183-A93A-74187F95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71F3D"/>
                </a:solidFill>
              </a:defRPr>
            </a:pPr>
            <a:r>
              <a:rPr sz="1575" b="1" i="0">
                <a:solidFill>
                  <a:srgbClr val="071F3D"/>
                </a:solidFill>
              </a:rPr>
              <a:t>Bahasa pengguna bervariasi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5F43F-D940-47C8-A0A3-E8676221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27813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5D6A78"/>
                </a:solidFill>
              </a:defRPr>
            </a:pPr>
            <a:r>
              <a:rPr sz="1275" b="0" i="0">
                <a:solidFill>
                  <a:srgbClr val="5D6A78"/>
                </a:solidFill>
              </a:rPr>
              <a:t>Kalimat singkat, typo, dan istilah berbeda perlu dipetakan ke maksud yang sama.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F0696-9972-4CD9-93D7-B2F5D622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A0012-D401-485A-A230-A19BB470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5D6A78"/>
                </a:solidFill>
              </a:defRPr>
            </a:pPr>
            <a:r>
              <a:rPr sz="750" b="0" i="0">
                <a:solidFill>
                  <a:srgbClr val="5D6A78"/>
                </a:solidFill>
              </a:rPr>
              <a:t>Universitas Mercu Buana • UAS NLP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3C1F9C-7C12-4B50-9560-F48B6615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5320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5D6A78"/>
                </a:solidFill>
              </a:defRPr>
            </a:pPr>
            <a:r>
              <a:rPr sz="750" b="1" i="0">
                <a:solidFill>
                  <a:srgbClr val="5D6A78"/>
                </a:solidFill>
              </a:rPr>
              <a:t>KELOMPOK 3 ORANG</a:t>
            </a:r>
          </a:p>
        </p:txBody>
      </p:sp>
    </p:spTree>
    <p:extLst>
      <p:ext uri="{BB962C8B-B14F-4D97-AF65-F5344CB8AC3E}">
        <p14:creationId xmlns:p14="http://schemas.microsoft.com/office/powerpoint/2010/main" val="2093027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C6357-61C8-412B-8401-B8ED0E08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CHATBOT FAQ AKADEMIK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3D29A-14A6-4FD2-81CE-AB198741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5D6A78"/>
                </a:solidFill>
              </a:defRPr>
            </a:pPr>
            <a:r>
              <a:rPr sz="1050" b="1" i="0">
                <a:solidFill>
                  <a:srgbClr val="5D6A78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95E86-88B8-4847-A55F-A4D25100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071F3D"/>
                </a:solidFill>
              </a:defRPr>
            </a:pPr>
            <a:r>
              <a:rPr sz="2700" b="1" i="0">
                <a:solidFill>
                  <a:srgbClr val="071F3D"/>
                </a:solidFill>
              </a:rPr>
              <a:t>Solusi dan kebutuhan fungsional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94F3E-55C9-47EE-95B7-A0AE08D2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C1DAD-89C5-4D47-88E9-C6C0611B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43865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071F3D"/>
          </a:solidFill>
          <a:ln xmlns:a="http://schemas.openxmlformats.org/drawingml/2006/main" w="9525">
            <a:solidFill>
              <a:srgbClr val="071F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82B3F-F3A0-40EA-BCE0-F9E8A540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2B84B"/>
                </a:solidFill>
              </a:defRPr>
            </a:pPr>
            <a:r>
              <a:rPr sz="900" b="1" i="0">
                <a:solidFill>
                  <a:srgbClr val="F2B84B"/>
                </a:solidFill>
              </a:rPr>
              <a:t>TUJUAN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7F979-A2B8-4EB8-8692-53111C69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3524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Asisten akademik sederhana yang memahami intent dan memandu proses secara bertahap.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057F5-4F03-4920-9DB3-C902DDA5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B9CBDE"/>
                </a:solidFill>
              </a:defRPr>
            </a:pPr>
            <a:r>
              <a:rPr sz="975" b="1" i="0">
                <a:solidFill>
                  <a:srgbClr val="B9CBDE"/>
                </a:solidFill>
              </a:rPr>
              <a:t>Dua kanal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74BD7-9A01-4654-96FA-DA852169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C66"/>
          </a:solidFill>
          <a:ln xmlns:a="http://schemas.openxmlformats.org/drawingml/2006/main" w="0">
            <a:solidFill>
              <a:srgbClr val="173C6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CLI 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0DB41-B997-482A-B909-713D082F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57750"/>
            <a:ext cx="1638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F3D"/>
                </a:solidFill>
              </a:defRPr>
            </a:pPr>
            <a:r>
              <a:rPr sz="900" b="1">
                <a:solidFill>
                  <a:srgbClr val="071F3D"/>
                </a:solidFill>
              </a:rPr>
              <a:t>WEB STREAMLIT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64335-5A09-4519-A1D6-AB79B630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752600"/>
            <a:ext cx="619125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2D8AA-21A8-4E11-80E5-D94C8AA2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A6041-9CDA-4722-BB7C-C46BFFE2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5124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42232"/>
                </a:solidFill>
              </a:defRPr>
            </a:pPr>
            <a:r>
              <a:rPr sz="1350" b="0" i="0">
                <a:solidFill>
                  <a:srgbClr val="142232"/>
                </a:solidFill>
              </a:rPr>
              <a:t>Menerima input teks dan memprediksi 1 dari 5 intent.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F70FA-6B07-4CFF-AC12-DC8DC0A9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09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CEFB3-804C-4433-A15D-5952AB64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33675"/>
            <a:ext cx="5124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42232"/>
                </a:solidFill>
              </a:defRPr>
            </a:pPr>
            <a:r>
              <a:rPr sz="1350" b="0" i="0">
                <a:solidFill>
                  <a:srgbClr val="142232"/>
                </a:solidFill>
              </a:rPr>
              <a:t>Mengekstrak NIM serta kode mata kuliah dengan regex.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2D047-A061-48A9-B495-7EA5B826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48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0ECA4-B64B-432D-B682-5A904BBE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71850"/>
            <a:ext cx="5124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42232"/>
                </a:solidFill>
              </a:defRPr>
            </a:pPr>
            <a:r>
              <a:rPr sz="1350" b="0" i="0">
                <a:solidFill>
                  <a:srgbClr val="142232"/>
                </a:solidFill>
              </a:rPr>
              <a:t>Menjalankan percakapan multi-turn dengan tahap konfirmasi.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F41CC-D9D9-46C3-8A3A-85ACECD7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86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AE51A-F19A-4AD3-B76C-83AF6A26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10025"/>
            <a:ext cx="5124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42232"/>
                </a:solidFill>
              </a:defRPr>
            </a:pPr>
            <a:r>
              <a:rPr sz="1350" b="0" i="0">
                <a:solidFill>
                  <a:srgbClr val="142232"/>
                </a:solidFill>
              </a:rPr>
              <a:t>Menyimpan log CSV dengan penyamaran NIM.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296FC-841A-40C9-83D1-4909D570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24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C6F6C2-C64A-4C66-A920-9C77F3BD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48200"/>
            <a:ext cx="5124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42232"/>
                </a:solidFill>
              </a:defRPr>
            </a:pPr>
            <a:r>
              <a:rPr sz="1350" b="0" i="0">
                <a:solidFill>
                  <a:srgbClr val="142232"/>
                </a:solidFill>
              </a:rPr>
              <a:t>Menampilkan confidence dan menyediakan reset percakapan.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FE150-C465-416E-A99C-8D23387C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B0749-D808-4BAD-AD35-68791182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5D6A78"/>
                </a:solidFill>
              </a:defRPr>
            </a:pPr>
            <a:r>
              <a:rPr sz="750" b="0" i="0">
                <a:solidFill>
                  <a:srgbClr val="5D6A78"/>
                </a:solidFill>
              </a:rPr>
              <a:t>Universitas Mercu Buana • UAS NLP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31727-E457-485B-8B3F-D39BE477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5320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5D6A78"/>
                </a:solidFill>
              </a:defRPr>
            </a:pPr>
            <a:r>
              <a:rPr sz="750" b="1" i="0">
                <a:solidFill>
                  <a:srgbClr val="5D6A78"/>
                </a:solidFill>
              </a:rPr>
              <a:t>KELOMPOK 3 ORANG</a:t>
            </a:r>
          </a:p>
        </p:txBody>
      </p:sp>
    </p:spTree>
    <p:extLst>
      <p:ext uri="{BB962C8B-B14F-4D97-AF65-F5344CB8AC3E}">
        <p14:creationId xmlns:p14="http://schemas.microsoft.com/office/powerpoint/2010/main" val="1398136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0087E9-FA2F-47ED-9E34-B872D682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CHATBOT FAQ AKADEMIK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EC452-8151-444B-837F-529CCDA5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5D6A78"/>
                </a:solidFill>
              </a:defRPr>
            </a:pPr>
            <a:r>
              <a:rPr sz="1050" b="1" i="0">
                <a:solidFill>
                  <a:srgbClr val="5D6A78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0FFA9-D1DD-40BF-AE9C-29E8B413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071F3D"/>
                </a:solidFill>
              </a:defRPr>
            </a:pPr>
            <a:r>
              <a:rPr sz="2700" b="1" i="0">
                <a:solidFill>
                  <a:srgbClr val="071F3D"/>
                </a:solidFill>
              </a:rPr>
              <a:t>Arsitektur chatbot — dari input ke respons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DC60D-AA17-4F11-9B58-0D0711A2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75068-188E-4744-B0E6-BD12A593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909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B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C2DCF-6732-461A-A7CB-25039963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909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E127B-524E-429F-A984-C6BB305D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F353F-2211-4CF1-90B8-2C1E728B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90900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87E78-BC44-429D-9784-BB690A13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81200" cy="20383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33819-511E-41A3-8240-86E70563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0B4DA2"/>
                </a:solidFill>
              </a:defRPr>
            </a:pPr>
            <a:r>
              <a:rPr sz="1275" b="1" i="0">
                <a:solidFill>
                  <a:srgbClr val="0B4DA2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46F94-9DF5-49CF-9287-3D320987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071F3D"/>
                </a:solidFill>
              </a:defRPr>
            </a:pPr>
            <a:r>
              <a:rPr sz="1650" b="1" i="0">
                <a:solidFill>
                  <a:srgbClr val="071F3D"/>
                </a:solidFill>
              </a:rPr>
              <a:t>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1C7D9-FB79-4ADB-9DD8-DC35D3CF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D6A78"/>
                </a:solidFill>
              </a:defRPr>
            </a:pPr>
            <a:r>
              <a:rPr sz="1200" b="0" i="0">
                <a:solidFill>
                  <a:srgbClr val="5D6A78"/>
                </a:solidFill>
              </a:rPr>
              <a:t>CLI / 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35183-6515-446F-A806-DCB1365D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81250"/>
            <a:ext cx="1981200" cy="20383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7AA15-C385-421A-B6C5-EA3362A9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0B4DA2"/>
                </a:solidFill>
              </a:defRPr>
            </a:pPr>
            <a:r>
              <a:rPr sz="1275" b="1" i="0">
                <a:solidFill>
                  <a:srgbClr val="0B4DA2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C7DB6-647E-4405-BEF8-F0E14EE3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071F3D"/>
                </a:solidFill>
              </a:defRPr>
            </a:pPr>
            <a:r>
              <a:rPr sz="1275" b="1" i="0">
                <a:solidFill>
                  <a:srgbClr val="071F3D"/>
                </a:solidFill>
              </a:rPr>
              <a:t>Preprocessing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B784F-0B71-472B-9B01-641A60E9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D6A78"/>
                </a:solidFill>
              </a:defRPr>
            </a:pPr>
            <a:r>
              <a:rPr sz="1200" b="0" i="0">
                <a:solidFill>
                  <a:srgbClr val="5D6A78"/>
                </a:solidFill>
              </a:rPr>
              <a:t>clean + tokenize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131EE-6704-4E37-B344-ABC76B68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981200" cy="20383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071F3D"/>
          </a:solidFill>
          <a:ln xmlns:a="http://schemas.openxmlformats.org/drawingml/2006/main" w="9525">
            <a:solidFill>
              <a:srgbClr val="071F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8E2FB-6C1F-4F3B-8076-E70D2EBD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9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F2B84B"/>
                </a:solidFill>
              </a:defRPr>
            </a:pPr>
            <a:r>
              <a:rPr sz="1275" b="1" i="0">
                <a:solidFill>
                  <a:srgbClr val="F2B84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CD4DD-6E40-4432-8D90-84D13E77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Intent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6E9D1-8417-41AF-94BC-57CE0588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19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D8E3EF"/>
                </a:solidFill>
              </a:defRPr>
            </a:pPr>
            <a:r>
              <a:rPr sz="1200" b="0" i="0">
                <a:solidFill>
                  <a:srgbClr val="D8E3EF"/>
                </a:solidFill>
              </a:rPr>
              <a:t>TF-IDF + LR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04D8A-6F45-4DA9-B855-8E730D3A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1981200" cy="20383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F6913-9511-4827-9BC1-6EF2F43B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9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0B4DA2"/>
                </a:solidFill>
              </a:defRPr>
            </a:pPr>
            <a:r>
              <a:rPr sz="1275" b="1" i="0">
                <a:solidFill>
                  <a:srgbClr val="0B4DA2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B1FD1E-ABCA-45B1-8B88-C2064A4B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071F3D"/>
                </a:solidFill>
              </a:defRPr>
            </a:pPr>
            <a:r>
              <a:rPr sz="1650" b="1" i="0">
                <a:solidFill>
                  <a:srgbClr val="071F3D"/>
                </a:solidFill>
              </a:rPr>
              <a:t>Dialog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93427-CA95-4FA0-8A47-8795F816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19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D6A78"/>
                </a:solidFill>
              </a:defRPr>
            </a:pPr>
            <a:r>
              <a:rPr sz="1200" b="0" i="0">
                <a:solidFill>
                  <a:srgbClr val="5D6A78"/>
                </a:solidFill>
              </a:rPr>
              <a:t>state + slots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C03392-591F-47D3-B01A-91D334F3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981200" cy="203835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3956E9-DEB1-4444-958E-81AB341D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90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0B4DA2"/>
                </a:solidFill>
              </a:defRPr>
            </a:pPr>
            <a:r>
              <a:rPr sz="1275" b="1" i="0">
                <a:solidFill>
                  <a:srgbClr val="0B4DA2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F54E8C-FF78-4A32-B675-99B1853A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071F3D"/>
                </a:solidFill>
              </a:defRPr>
            </a:pPr>
            <a:r>
              <a:rPr sz="1650" b="1" i="0">
                <a:solidFill>
                  <a:srgbClr val="071F3D"/>
                </a:solidFill>
              </a:rPr>
              <a:t>Output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4BE4B2-2FBA-4F06-AFB3-894F0C34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19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D6A78"/>
                </a:solidFill>
              </a:defRPr>
            </a:pPr>
            <a:r>
              <a:rPr sz="1200" b="0" i="0">
                <a:solidFill>
                  <a:srgbClr val="5D6A78"/>
                </a:solidFill>
              </a:rPr>
              <a:t>response + log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7D765B-4C9D-4720-8925-4B508554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DDEB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AA471C-B9F5-4161-94B4-AFCAF0EF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B4DA2"/>
                </a:solidFill>
              </a:defRPr>
            </a:pPr>
            <a:r>
              <a:rPr sz="1050" b="1" i="0">
                <a:solidFill>
                  <a:srgbClr val="0B4DA2"/>
                </a:solidFill>
              </a:rPr>
              <a:t>Prinsip desain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DD6208-439F-4308-A8CF-F32010FE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91100"/>
            <a:ext cx="840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071F3D"/>
                </a:solidFill>
              </a:defRPr>
            </a:pPr>
            <a:r>
              <a:rPr sz="1650" b="1" i="0">
                <a:solidFill>
                  <a:srgbClr val="071F3D"/>
                </a:solidFill>
              </a:rPr>
              <a:t>Model menentukan maksud; dialog manager menjaga konteks; logger menyediakan jejak evaluasi.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FA8520-856E-4502-B003-6820AC1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EF0F04-FB3B-4D1A-B344-A977D0B5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5D6A78"/>
                </a:solidFill>
              </a:defRPr>
            </a:pPr>
            <a:r>
              <a:rPr sz="750" b="0" i="0">
                <a:solidFill>
                  <a:srgbClr val="5D6A78"/>
                </a:solidFill>
              </a:rPr>
              <a:t>Universitas Mercu Buana • UAS NLP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9734C-325E-4611-B0D1-40949A46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5320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5D6A78"/>
                </a:solidFill>
              </a:defRPr>
            </a:pPr>
            <a:r>
              <a:rPr sz="750" b="1" i="0">
                <a:solidFill>
                  <a:srgbClr val="5D6A78"/>
                </a:solidFill>
              </a:rPr>
              <a:t>KELOMPOK 3 ORANG</a:t>
            </a:r>
          </a:p>
        </p:txBody>
      </p:sp>
    </p:spTree>
    <p:extLst>
      <p:ext uri="{BB962C8B-B14F-4D97-AF65-F5344CB8AC3E}">
        <p14:creationId xmlns:p14="http://schemas.microsoft.com/office/powerpoint/2010/main" val="6606679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F09A43-F031-4255-B813-AF5EC91E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CHATBOT FAQ AKADEMIK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6DD60-8B44-4997-B4AC-0055B42F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5D6A78"/>
                </a:solidFill>
              </a:defRPr>
            </a:pPr>
            <a:r>
              <a:rPr sz="1050" b="1" i="0">
                <a:solidFill>
                  <a:srgbClr val="5D6A78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A302B-B864-4752-9811-3B2FC281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071F3D"/>
                </a:solidFill>
              </a:defRPr>
            </a:pPr>
            <a:r>
              <a:rPr sz="2700" b="1" i="0">
                <a:solidFill>
                  <a:srgbClr val="071F3D"/>
                </a:solidFill>
              </a:rPr>
              <a:t>Flow dialog dan state 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4D10C-C0E5-44FC-BD81-9A5C95E0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C3C96-F8C5-4D6A-853C-F2D8993E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765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4DA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19BEB3-9FDA-4661-96DE-1195428B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765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4DA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FFDFD-BED8-4E82-8D4E-4FD6C77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7655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4DA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EC3B7-423A-4A5F-9401-4E7D5577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17907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1D5F5-4B84-46FB-8120-76465644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E62AA-3DDE-4C57-A846-48392CD9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71F3D"/>
                </a:solidFill>
              </a:defRPr>
            </a:pPr>
            <a:r>
              <a:rPr sz="1350" b="1" i="0">
                <a:solidFill>
                  <a:srgbClr val="071F3D"/>
                </a:solidFill>
              </a:rPr>
              <a:t>IDLE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FBBF5-1E54-41A2-BFB4-E1CFCAD9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33625"/>
            <a:ext cx="17907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E9427-7999-4463-8A9C-149C8E16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860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A9E58-294E-460B-80F0-F14361A1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670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71F3D"/>
                </a:solidFill>
              </a:defRPr>
            </a:pPr>
            <a:r>
              <a:rPr sz="1350" b="1" i="0">
                <a:solidFill>
                  <a:srgbClr val="071F3D"/>
                </a:solidFill>
              </a:rPr>
              <a:t>WAIT NIM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ACC37-90A6-4C9A-A24B-3B053347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33625"/>
            <a:ext cx="17907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E72AB-D0F6-44DA-80DD-91CB0D47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860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CB367-E594-41C4-8BE9-6493E5F4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670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71F3D"/>
                </a:solidFill>
              </a:defRPr>
            </a:pPr>
            <a:r>
              <a:rPr sz="1350" b="1" i="0">
                <a:solidFill>
                  <a:srgbClr val="071F3D"/>
                </a:solidFill>
              </a:rPr>
              <a:t>WAIT MK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F235E-D581-4B97-910D-AD199B16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33625"/>
            <a:ext cx="17907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D4A9B-169A-4C15-AE7D-10749318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860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71F3D"/>
                </a:solidFill>
              </a:defRPr>
            </a:pPr>
            <a:r>
              <a:rPr sz="900" b="1" i="0">
                <a:solidFill>
                  <a:srgbClr val="071F3D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FDE41-1A51-46F5-B314-D73834E7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6702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71F3D"/>
                </a:solidFill>
              </a:defRPr>
            </a:pPr>
            <a:r>
              <a:rPr sz="1350" b="1" i="0">
                <a:solidFill>
                  <a:srgbClr val="071F3D"/>
                </a:solidFill>
              </a:rPr>
              <a:t>KONFIRMASI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7C201-6DE7-4C19-97D0-3121D21F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812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B7F5C"/>
                </a:solidFill>
              </a:defRPr>
            </a:pPr>
            <a:r>
              <a:rPr sz="975" b="1" i="0">
                <a:solidFill>
                  <a:srgbClr val="1B7F5C"/>
                </a:solidFill>
              </a:rPr>
              <a:t>Ya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C1FAC7-2EC0-4C57-987B-47C383DB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19475"/>
            <a:ext cx="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7F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7BCD5D-2FD8-4C73-A5E6-9BD6EE2D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38650"/>
            <a:ext cx="2438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4F3ED"/>
          </a:solidFill>
          <a:ln xmlns:a="http://schemas.openxmlformats.org/drawingml/2006/main" w="9525">
            <a:solidFill>
              <a:srgbClr val="B7DA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E939FA-DA26-4BE0-BE64-569F0AF5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672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1B7F5C"/>
                </a:solidFill>
              </a:defRPr>
            </a:pPr>
            <a:r>
              <a:rPr sz="1275" b="1" i="0">
                <a:solidFill>
                  <a:srgbClr val="1B7F5C"/>
                </a:solidFill>
              </a:rPr>
              <a:t>Selesai → kembali IDLE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DDFFF5-DFB4-413B-B0A7-72C53EF2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14750"/>
            <a:ext cx="2190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E4E4"/>
          </a:solidFill>
          <a:ln xmlns:a="http://schemas.openxmlformats.org/drawingml/2006/main" w="9525">
            <a:solidFill>
              <a:srgbClr val="E8BD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700611-9EC2-4F99-A649-DDE4DBB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B64747"/>
                </a:solidFill>
              </a:defRPr>
            </a:pPr>
            <a:r>
              <a:rPr sz="975" b="1" i="0">
                <a:solidFill>
                  <a:srgbClr val="B64747"/>
                </a:solidFill>
              </a:rPr>
              <a:t>Tidak → ulangi input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C8D11B-C87F-4B2A-9A95-AD23AA9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054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5D6A78"/>
                </a:solidFill>
              </a:defRPr>
            </a:pPr>
            <a:r>
              <a:rPr sz="1275" b="0" i="0">
                <a:solidFill>
                  <a:srgbClr val="5D6A78"/>
                </a:solidFill>
              </a:rPr>
              <a:t>Chatbot meminta konfirmasi ulang sebelum mengeksekusi respons akhir.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0BC0F5-3BCC-4242-98DE-C9095C42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1561CA-9C19-4985-B40B-9FCD1B2C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5D6A78"/>
                </a:solidFill>
              </a:defRPr>
            </a:pPr>
            <a:r>
              <a:rPr sz="750" b="0" i="0">
                <a:solidFill>
                  <a:srgbClr val="5D6A78"/>
                </a:solidFill>
              </a:rPr>
              <a:t>Universitas Mercu Buana • UAS NLP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627CAD-C96A-475F-AE3F-9A1BF982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5320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5D6A78"/>
                </a:solidFill>
              </a:defRPr>
            </a:pPr>
            <a:r>
              <a:rPr sz="750" b="1" i="0">
                <a:solidFill>
                  <a:srgbClr val="5D6A78"/>
                </a:solidFill>
              </a:rPr>
              <a:t>KELOMPOK 3 ORANG</a:t>
            </a:r>
          </a:p>
        </p:txBody>
      </p:sp>
    </p:spTree>
    <p:extLst>
      <p:ext uri="{BB962C8B-B14F-4D97-AF65-F5344CB8AC3E}">
        <p14:creationId xmlns:p14="http://schemas.microsoft.com/office/powerpoint/2010/main" val="807261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9FACFF-FF95-44B4-AB14-B9AA596E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CHATBOT FAQ AKADEMIK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C41BA-7A9F-4B06-9635-5CF3E91F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5D6A78"/>
                </a:solidFill>
              </a:defRPr>
            </a:pPr>
            <a:r>
              <a:rPr sz="1050" b="1" i="0">
                <a:solidFill>
                  <a:srgbClr val="5D6A78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7223D-9B0A-4018-885C-30DBE312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071F3D"/>
                </a:solidFill>
              </a:defRPr>
            </a:pPr>
            <a:r>
              <a:rPr sz="2700" b="1" i="0">
                <a:solidFill>
                  <a:srgbClr val="071F3D"/>
                </a:solidFill>
              </a:rPr>
              <a:t>Dataset: 250 utterances yang seimbang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DFAFF-3CD6-45CD-A720-06B03BFD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76C15-6B43-414F-A817-25A19358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2860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B070B6-4772-47E5-8DDF-A57CB5EC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A2"/>
          </a:solidFill>
          <a:ln xmlns:a="http://schemas.openxmlformats.org/drawingml/2006/main" w="0">
            <a:solidFill>
              <a:srgbClr val="0B4DA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E3918-396D-4D13-8D13-CD7E0AD7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0B4DA2"/>
                </a:solidFill>
              </a:defRPr>
            </a:pPr>
            <a:r>
              <a:rPr sz="3150" b="1" i="0">
                <a:solidFill>
                  <a:srgbClr val="0B4DA2"/>
                </a:solidFill>
              </a:rPr>
              <a:t>250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902B48-65FE-42B0-B112-097B7097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D6A78"/>
                </a:solidFill>
              </a:defRPr>
            </a:pPr>
            <a:r>
              <a:rPr sz="1125" b="1" i="0">
                <a:solidFill>
                  <a:srgbClr val="5D6A78"/>
                </a:solidFill>
              </a:rPr>
              <a:t>TOTAL DATA TEKS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CCB72-AB02-4671-9D40-DB9B59D2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22860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CF75B-BBF6-4C37-A269-1D1B2D69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97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3D"/>
          </a:solidFill>
          <a:ln xmlns:a="http://schemas.openxmlformats.org/drawingml/2006/main" w="0">
            <a:solidFill>
              <a:srgbClr val="071F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DFA6F-01DD-49D9-B8A8-56245EB9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812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071F3D"/>
                </a:solidFill>
              </a:defRPr>
            </a:pPr>
            <a:r>
              <a:rPr sz="3150" b="1" i="0">
                <a:solidFill>
                  <a:srgbClr val="071F3D"/>
                </a:solidFill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E4A80-CF78-4FCA-861B-ACA34E53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098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D6A78"/>
                </a:solidFill>
              </a:defRPr>
            </a:pPr>
            <a:r>
              <a:rPr sz="1125" b="1" i="0">
                <a:solidFill>
                  <a:srgbClr val="5D6A78"/>
                </a:solidFill>
              </a:rPr>
              <a:t>INTENT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8AD09-F480-4873-BDFC-B4444B5D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22860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69E43-E831-492F-8D38-C11AC181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CB1C5-8D1E-48CE-BFD7-6E031BAD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812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2B84B"/>
                </a:solidFill>
              </a:defRPr>
            </a:pPr>
            <a:r>
              <a:rPr sz="3150" b="1" i="0">
                <a:solidFill>
                  <a:srgbClr val="F2B84B"/>
                </a:solidFill>
              </a:rPr>
              <a:t>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150D9-CB9B-4DA9-9548-962A9733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098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D6A78"/>
                </a:solidFill>
              </a:defRPr>
            </a:pPr>
            <a:r>
              <a:rPr sz="1125" b="1" i="0">
                <a:solidFill>
                  <a:srgbClr val="5D6A78"/>
                </a:solidFill>
              </a:rPr>
              <a:t>DATA / INTENT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47D43-1108-45B4-A1C2-D3065541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22860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E5E3D-E9AC-4928-9C48-513E7325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1B7F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58089-2FA6-4955-9281-46909D67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8120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B7F5C"/>
                </a:solidFill>
              </a:defRPr>
            </a:pPr>
            <a:r>
              <a:rPr sz="3150" b="1" i="0">
                <a:solidFill>
                  <a:srgbClr val="1B7F5C"/>
                </a:solidFill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E6BA00-9256-4D4E-9AA9-B48D658F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D6A78"/>
                </a:solidFill>
              </a:defRPr>
            </a:pPr>
            <a:r>
              <a:rPr sz="1125" b="1" i="0">
                <a:solidFill>
                  <a:srgbClr val="5D6A78"/>
                </a:solidFill>
              </a:rPr>
              <a:t>UTTERANCE UNIK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11AA9F-9A8E-4229-9082-F740C95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42232"/>
                </a:solidFill>
              </a:defRPr>
            </a:pPr>
            <a:r>
              <a:rPr sz="1125" b="1" i="0">
                <a:solidFill>
                  <a:srgbClr val="142232"/>
                </a:solidFill>
              </a:rPr>
              <a:t>KRS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35352-CFCA-4F2D-850A-2E7CD735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4275"/>
            <a:ext cx="8191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solidFill>
              <a:srgbClr val="DDEB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0488C-9177-4337-962A-E2A118AD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4275"/>
            <a:ext cx="8191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DA2"/>
          </a:solidFill>
          <a:ln xmlns:a="http://schemas.openxmlformats.org/drawingml/2006/main" w="0">
            <a:solidFill>
              <a:srgbClr val="0B4DA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C76487-671D-4BF7-B21E-4CCEFB82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95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071F3D"/>
                </a:solidFill>
              </a:defRPr>
            </a:pPr>
            <a:r>
              <a:rPr sz="1125" b="1" i="0">
                <a:solidFill>
                  <a:srgbClr val="071F3D"/>
                </a:solidFill>
              </a:rPr>
              <a:t>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3D8C8B-7017-430B-8621-5F761019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42232"/>
                </a:solidFill>
              </a:defRPr>
            </a:pPr>
            <a:r>
              <a:rPr sz="1125" b="1" i="0">
                <a:solidFill>
                  <a:srgbClr val="142232"/>
                </a:solidFill>
              </a:rPr>
              <a:t>UKT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61492E-C45B-4563-B555-3C903AF5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71950"/>
            <a:ext cx="8191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solidFill>
              <a:srgbClr val="DDEBF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6F4237-39FD-482E-8E84-FA7CC930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71950"/>
            <a:ext cx="8191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DA2"/>
          </a:solidFill>
          <a:ln xmlns:a="http://schemas.openxmlformats.org/drawingml/2006/main" w="0">
            <a:solidFill>
              <a:srgbClr val="0B4D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6C3DF4-E194-4193-8BAE-44193874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433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071F3D"/>
                </a:solidFill>
              </a:defRPr>
            </a:pPr>
            <a:r>
              <a:rPr sz="1125" b="1" i="0">
                <a:solidFill>
                  <a:srgbClr val="071F3D"/>
                </a:solidFill>
              </a:rPr>
              <a:t>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19EF76-AB2D-44E7-B70D-16F12910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42232"/>
                </a:solidFill>
              </a:defRPr>
            </a:pPr>
            <a:r>
              <a:rPr sz="1125" b="1" i="0">
                <a:solidFill>
                  <a:srgbClr val="142232"/>
                </a:solidFill>
              </a:rPr>
              <a:t>Ujian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D12F18-7002-400D-825F-E1E2D659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19625"/>
            <a:ext cx="8191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solidFill>
              <a:srgbClr val="DDEBF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82A69B-D243-4244-9F26-F7955C0B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19625"/>
            <a:ext cx="8191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3F7C98-2220-4668-82A3-C1C432C1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591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071F3D"/>
                </a:solidFill>
              </a:defRPr>
            </a:pPr>
            <a:r>
              <a:rPr sz="1125" b="1" i="0">
                <a:solidFill>
                  <a:srgbClr val="071F3D"/>
                </a:solidFill>
              </a:rPr>
              <a:t>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586D5E-C17C-48EB-AF2C-3704BD45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42232"/>
                </a:solidFill>
              </a:defRPr>
            </a:pPr>
            <a:r>
              <a:rPr sz="1125" b="1" i="0">
                <a:solidFill>
                  <a:srgbClr val="142232"/>
                </a:solidFill>
              </a:rPr>
              <a:t>Beasiswa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A6BB70-35E0-4EF7-B690-655FE344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67300"/>
            <a:ext cx="8191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solidFill>
              <a:srgbClr val="DDEBF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2B5923-AE50-40A7-8D6A-586FA78E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67300"/>
            <a:ext cx="8191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DA2"/>
          </a:solidFill>
          <a:ln xmlns:a="http://schemas.openxmlformats.org/drawingml/2006/main" w="0">
            <a:solidFill>
              <a:srgbClr val="0B4DA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60B2FF-C66E-47F1-A475-C45B3B86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0387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071F3D"/>
                </a:solidFill>
              </a:defRPr>
            </a:pPr>
            <a:r>
              <a:rPr sz="1125" b="1" i="0">
                <a:solidFill>
                  <a:srgbClr val="071F3D"/>
                </a:solidFill>
              </a:rPr>
              <a:t>50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B2F691-B304-4611-A65A-5701F32B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42232"/>
                </a:solidFill>
              </a:defRPr>
            </a:pPr>
            <a:r>
              <a:rPr sz="1125" b="1" i="0">
                <a:solidFill>
                  <a:srgbClr val="142232"/>
                </a:solidFill>
              </a:rPr>
              <a:t>Portal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047995-2315-46E8-A6E9-8E7244E8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14975"/>
            <a:ext cx="8191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solidFill>
              <a:srgbClr val="DDEBF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FA9DD0-75DD-4758-975C-61C57DE0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14975"/>
            <a:ext cx="8191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DA2"/>
          </a:solidFill>
          <a:ln xmlns:a="http://schemas.openxmlformats.org/drawingml/2006/main" w="0">
            <a:solidFill>
              <a:srgbClr val="0B4DA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38C55F-20FF-4DFE-8EC6-D97A2D61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486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 i="0">
                <a:solidFill>
                  <a:srgbClr val="071F3D"/>
                </a:solidFill>
              </a:defRPr>
            </a:pPr>
            <a:r>
              <a:rPr sz="1125" b="1" i="0">
                <a:solidFill>
                  <a:srgbClr val="071F3D"/>
                </a:solidFill>
              </a:rPr>
              <a:t>50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8D97D5-39CE-4CC3-AD1E-97041692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8C8324-81BA-44B8-882B-589D2181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5D6A78"/>
                </a:solidFill>
              </a:defRPr>
            </a:pPr>
            <a:r>
              <a:rPr sz="750" b="0" i="0">
                <a:solidFill>
                  <a:srgbClr val="5D6A78"/>
                </a:solidFill>
              </a:rPr>
              <a:t>Universitas Mercu Buana • UAS NLP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F596B2-E920-49FD-824A-63034703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5320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5D6A78"/>
                </a:solidFill>
              </a:defRPr>
            </a:pPr>
            <a:r>
              <a:rPr sz="750" b="1" i="0">
                <a:solidFill>
                  <a:srgbClr val="5D6A78"/>
                </a:solidFill>
              </a:rPr>
              <a:t>KELOMPOK 3 ORANG</a:t>
            </a:r>
          </a:p>
        </p:txBody>
      </p:sp>
    </p:spTree>
    <p:extLst>
      <p:ext uri="{BB962C8B-B14F-4D97-AF65-F5344CB8AC3E}">
        <p14:creationId xmlns:p14="http://schemas.microsoft.com/office/powerpoint/2010/main" val="1858698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4C9BE-D11D-44E7-97BA-FAA85985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CHATBOT FAQ AKADEMIK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F85B0-E200-456A-B4BB-AA02656B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5D6A78"/>
                </a:solidFill>
              </a:defRPr>
            </a:pPr>
            <a:r>
              <a:rPr sz="1050" b="1" i="0">
                <a:solidFill>
                  <a:srgbClr val="5D6A78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0B748-F950-4AF2-B2EE-6FB4B0A3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071F3D"/>
                </a:solidFill>
              </a:defRPr>
            </a:pPr>
            <a:r>
              <a:rPr sz="2700" b="1" i="0">
                <a:solidFill>
                  <a:srgbClr val="071F3D"/>
                </a:solidFill>
              </a:rPr>
              <a:t>Preprocessing: teks mentah menjadi fitur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BCE2B-7DDF-4E7B-B220-8B0F110F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DF314-3B18-402C-B412-25C455D2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495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solidFill>
              <a:srgbClr val="DDEB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F3D"/>
                </a:solidFill>
              </a:defRPr>
            </a:pPr>
            <a:r>
              <a:rPr sz="900" b="1">
                <a:solidFill>
                  <a:srgbClr val="071F3D"/>
                </a:solidFill>
              </a:rPr>
              <a:t>1. LOWERCASE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94833-92E7-4B1D-99B9-3ECB40B8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2495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solidFill>
              <a:srgbClr val="DDEB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F3D"/>
                </a:solidFill>
              </a:defRPr>
            </a:pPr>
            <a:r>
              <a:rPr sz="900" b="1">
                <a:solidFill>
                  <a:srgbClr val="071F3D"/>
                </a:solidFill>
              </a:rPr>
              <a:t>2. CLEANING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79098-E104-4077-A12C-509F1254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52600"/>
            <a:ext cx="2495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solidFill>
              <a:srgbClr val="DDEB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F3D"/>
                </a:solidFill>
              </a:defRPr>
            </a:pPr>
            <a:r>
              <a:rPr sz="900" b="1">
                <a:solidFill>
                  <a:srgbClr val="071F3D"/>
                </a:solidFill>
              </a:rPr>
              <a:t>3. TOKENIZATION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D2C81-E57B-42E4-8C70-2056880C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2495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F3D"/>
                </a:solidFill>
              </a:defRPr>
            </a:pPr>
            <a:r>
              <a:rPr sz="900" b="1">
                <a:solidFill>
                  <a:srgbClr val="071F3D"/>
                </a:solidFill>
              </a:rPr>
              <a:t>4. NORMALISASI TYPO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EC0F0-9039-48E4-90FE-9D20FE87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2197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674F4-4BA1-4561-8771-A3408FF0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B64747"/>
                </a:solidFill>
              </a:defRPr>
            </a:pPr>
            <a:r>
              <a:rPr sz="900" b="1" i="0">
                <a:solidFill>
                  <a:srgbClr val="B64747"/>
                </a:solidFill>
              </a:rPr>
              <a:t>SEBELUM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928BC-3F6D-4140-A279-B2E53F9E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071F3D"/>
                </a:solidFill>
              </a:defRPr>
            </a:pPr>
            <a:r>
              <a:rPr sz="2025" b="1" i="0">
                <a:solidFill>
                  <a:srgbClr val="071F3D"/>
                </a:solidFill>
              </a:rPr>
              <a:t>"Gimana cara isi KRS???"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EC2DD-9672-46B4-814E-1BF4B5FA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D6A78"/>
                </a:solidFill>
              </a:defRPr>
            </a:pPr>
            <a:r>
              <a:rPr sz="1275" b="0" i="0">
                <a:solidFill>
                  <a:srgbClr val="5D6A78"/>
                </a:solidFill>
              </a:rPr>
              <a:t>Tanda baca, kapitalisasi, dan variasi bentuk kata masih 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86ED2-8E78-4652-806F-979B41EB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52197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071F3D"/>
          </a:solidFill>
          <a:ln xmlns:a="http://schemas.openxmlformats.org/drawingml/2006/main" w="9525">
            <a:solidFill>
              <a:srgbClr val="071F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9EF28-FFC1-4AB4-A892-F2634512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2B84B"/>
                </a:solidFill>
              </a:defRPr>
            </a:pPr>
            <a:r>
              <a:rPr sz="900" b="1" i="0">
                <a:solidFill>
                  <a:srgbClr val="F2B84B"/>
                </a:solidFill>
              </a:rPr>
              <a:t>SESUDAH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D2A2F-0B61-46AD-8F05-7625CCD5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gimana cara isi krs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9571D-3CE8-4C86-A34A-108D57A5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8E3EF"/>
                </a:solidFill>
              </a:defRPr>
            </a:pPr>
            <a:r>
              <a:rPr sz="1275" b="0" i="0">
                <a:solidFill>
                  <a:srgbClr val="D8E3EF"/>
                </a:solidFill>
              </a:rPr>
              <a:t>Token: [gimana, cara, isi, krs]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6A7C7-FB67-4419-917D-19F7BCFF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0B4DA2"/>
                </a:solidFill>
              </a:defRPr>
            </a:pPr>
            <a:r>
              <a:rPr sz="1275" b="1" i="0">
                <a:solidFill>
                  <a:srgbClr val="0B4DA2"/>
                </a:solidFill>
              </a:rPr>
              <a:t>Catatan: preprocessing dipakai konsisten saat training dan inference.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037F3-CF20-4FC8-996A-7444DD34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234B3-9AB8-4191-A92C-49A8DDD6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5D6A78"/>
                </a:solidFill>
              </a:defRPr>
            </a:pPr>
            <a:r>
              <a:rPr sz="750" b="0" i="0">
                <a:solidFill>
                  <a:srgbClr val="5D6A78"/>
                </a:solidFill>
              </a:rPr>
              <a:t>Universitas Mercu Buana • UAS NLP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98AD6-3D5E-4111-8CB5-26594872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5320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5D6A78"/>
                </a:solidFill>
              </a:defRPr>
            </a:pPr>
            <a:r>
              <a:rPr sz="750" b="1" i="0">
                <a:solidFill>
                  <a:srgbClr val="5D6A78"/>
                </a:solidFill>
              </a:rPr>
              <a:t>KELOMPOK 3 ORANG</a:t>
            </a:r>
          </a:p>
        </p:txBody>
      </p:sp>
    </p:spTree>
    <p:extLst>
      <p:ext uri="{BB962C8B-B14F-4D97-AF65-F5344CB8AC3E}">
        <p14:creationId xmlns:p14="http://schemas.microsoft.com/office/powerpoint/2010/main" val="17990726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9FB324-4060-46ED-9C92-9EF0CEEC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CHATBOT FAQ AKADEMIK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D8805-2AA2-43D0-844C-F931228C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5D6A78"/>
                </a:solidFill>
              </a:defRPr>
            </a:pPr>
            <a:r>
              <a:rPr sz="1050" b="1" i="0">
                <a:solidFill>
                  <a:srgbClr val="5D6A78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B9E1B-0734-4CDF-AD59-A08C1725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071F3D"/>
                </a:solidFill>
              </a:defRPr>
            </a:pPr>
            <a:r>
              <a:rPr sz="2700" b="1" i="0">
                <a:solidFill>
                  <a:srgbClr val="071F3D"/>
                </a:solidFill>
              </a:rPr>
              <a:t>Model intent classification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E03D5-2CC4-48C8-BCF8-58B363C5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23A50-3804-4BE3-8BF1-58C5A5F3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71F3D"/>
          </a:solidFill>
          <a:ln xmlns:a="http://schemas.openxmlformats.org/drawingml/2006/main" w="9525">
            <a:solidFill>
              <a:srgbClr val="071F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FFBDD-7217-46EB-ACB9-61477983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81225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TEKS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3FF4B-9F11-49AB-B336-4C54D970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622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4F9DE-5138-402E-A925-BE2B84A3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383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F2B84B"/>
                </a:solidFill>
              </a:defRPr>
            </a:pPr>
            <a:r>
              <a:rPr sz="1575" b="1" i="0">
                <a:solidFill>
                  <a:srgbClr val="F2B84B"/>
                </a:solidFill>
              </a:rPr>
              <a:t>WORD + CHAR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F2B84B"/>
                </a:solidFill>
              </a:defRPr>
            </a:pPr>
            <a:r>
              <a:rPr sz="1575" b="1" i="0">
                <a:solidFill>
                  <a:srgbClr val="F2B84B"/>
                </a:solidFill>
              </a:rPr>
              <a:t>TF-IDF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2A576-5724-473B-B6D5-9F2A8D61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622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FFF22-3BAF-4009-ABAC-9E524FD0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LOGISTIC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REGRESSION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A9312-4A1C-493C-997F-B4D73FDE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622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629A2-81FE-470D-945F-95F81540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181225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2B84B"/>
                </a:solidFill>
              </a:defRPr>
            </a:pPr>
            <a:r>
              <a:rPr sz="1650" b="1" i="0">
                <a:solidFill>
                  <a:srgbClr val="F2B84B"/>
                </a:solidFill>
              </a:rPr>
              <a:t>INTENT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B261A-04AD-4CF4-947E-77AC1A9C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4955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1045F-310F-432E-A0A1-A4ECA305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0B4DA2"/>
                </a:solidFill>
              </a:defRPr>
            </a:pPr>
            <a:r>
              <a:rPr sz="825" b="1" i="0">
                <a:solidFill>
                  <a:srgbClr val="0B4DA2"/>
                </a:solidFill>
              </a:rPr>
              <a:t>WORD N-GRAM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66F24-FE3D-460F-A423-722E45E2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071F3D"/>
                </a:solidFill>
              </a:defRPr>
            </a:pPr>
            <a:r>
              <a:rPr sz="2100" b="1" i="0">
                <a:solidFill>
                  <a:srgbClr val="071F3D"/>
                </a:solidFill>
              </a:rPr>
              <a:t>(1, 2)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E74AE-C482-4434-89C4-3B036B45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D6A78"/>
                </a:solidFill>
              </a:defRPr>
            </a:pPr>
            <a:r>
              <a:rPr sz="1125" b="0" i="0">
                <a:solidFill>
                  <a:srgbClr val="5D6A78"/>
                </a:solidFill>
              </a:rPr>
              <a:t>menangkap kata dan frasa pendek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AC8FE-9AC7-4B67-97A5-E0F082A2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4955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93DEA-BE4B-4EB8-BC71-C3746010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95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0B4DA2"/>
                </a:solidFill>
              </a:defRPr>
            </a:pPr>
            <a:r>
              <a:rPr sz="825" b="1" i="0">
                <a:solidFill>
                  <a:srgbClr val="0B4DA2"/>
                </a:solidFill>
              </a:rPr>
              <a:t>CHARACTER N-GRAM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BA224-4F36-4A90-8699-0E4BDB69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071F3D"/>
                </a:solidFill>
              </a:defRPr>
            </a:pPr>
            <a:r>
              <a:rPr sz="2100" b="1" i="0">
                <a:solidFill>
                  <a:srgbClr val="071F3D"/>
                </a:solidFill>
              </a:rPr>
              <a:t>(2, 5)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4EBCC-3593-4A50-A186-BF24BD12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62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D6A78"/>
                </a:solidFill>
              </a:defRPr>
            </a:pPr>
            <a:r>
              <a:rPr sz="1125" b="0" i="0">
                <a:solidFill>
                  <a:srgbClr val="5D6A78"/>
                </a:solidFill>
              </a:rPr>
              <a:t>lebih tahan pada variasi ejaan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31A74-A60A-457A-9E8F-BBEB0393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24955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4A275A-9FBD-4A8B-8EFC-AE26F446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0B4DA2"/>
                </a:solidFill>
              </a:defRPr>
            </a:pPr>
            <a:r>
              <a:rPr sz="825" b="1" i="0">
                <a:solidFill>
                  <a:srgbClr val="0B4DA2"/>
                </a:solidFill>
              </a:rPr>
              <a:t>SPLIT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0C427E-E36E-4604-A554-17F435E3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071F3D"/>
                </a:solidFill>
              </a:defRPr>
            </a:pPr>
            <a:r>
              <a:rPr sz="2100" b="1" i="0">
                <a:solidFill>
                  <a:srgbClr val="071F3D"/>
                </a:solidFill>
              </a:rPr>
              <a:t>80 : 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E54B0C-4BA2-4FB8-A20F-A1E8C5A5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D6A78"/>
                </a:solidFill>
              </a:defRPr>
            </a:pPr>
            <a:r>
              <a:rPr sz="1125" b="0" i="0">
                <a:solidFill>
                  <a:srgbClr val="5D6A78"/>
                </a:solidFill>
              </a:rPr>
              <a:t>200 train dan 50 test, stratified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17DB3-8652-4BB0-9651-B1346722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29000"/>
            <a:ext cx="24955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8A6E25-C5A7-4061-B127-86527A12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957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0B4DA2"/>
                </a:solidFill>
              </a:defRPr>
            </a:pPr>
            <a:r>
              <a:rPr sz="825" b="1" i="0">
                <a:solidFill>
                  <a:srgbClr val="0B4DA2"/>
                </a:solidFill>
              </a:rPr>
              <a:t>REPRODUCIBLE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FF2F7-5743-4253-925E-32422273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95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071F3D"/>
                </a:solidFill>
              </a:defRPr>
            </a:pPr>
            <a:r>
              <a:rPr sz="2100" b="1" i="0">
                <a:solidFill>
                  <a:srgbClr val="071F3D"/>
                </a:solidFill>
              </a:rPr>
              <a:t>seed 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B6140D-6418-4137-B421-26254577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625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D6A78"/>
                </a:solidFill>
              </a:defRPr>
            </a:pPr>
            <a:r>
              <a:rPr sz="1125" b="0" i="0">
                <a:solidFill>
                  <a:srgbClr val="5D6A78"/>
                </a:solidFill>
              </a:rPr>
              <a:t>hasil dapat diuji ulang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64B3AE-F31A-4B9F-843A-404DF07B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AD0935-1E3F-4953-BD24-131ED237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5D6A78"/>
                </a:solidFill>
              </a:defRPr>
            </a:pPr>
            <a:r>
              <a:rPr sz="750" b="0" i="0">
                <a:solidFill>
                  <a:srgbClr val="5D6A78"/>
                </a:solidFill>
              </a:rPr>
              <a:t>Universitas Mercu Buana • UAS NLP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965435-883F-450D-A289-19B2921D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5320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5D6A78"/>
                </a:solidFill>
              </a:defRPr>
            </a:pPr>
            <a:r>
              <a:rPr sz="750" b="1" i="0">
                <a:solidFill>
                  <a:srgbClr val="5D6A78"/>
                </a:solidFill>
              </a:rPr>
              <a:t>KELOMPOK 3 ORANG</a:t>
            </a:r>
          </a:p>
        </p:txBody>
      </p:sp>
    </p:spTree>
    <p:extLst>
      <p:ext uri="{BB962C8B-B14F-4D97-AF65-F5344CB8AC3E}">
        <p14:creationId xmlns:p14="http://schemas.microsoft.com/office/powerpoint/2010/main" val="17235020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0F3D40-A437-4CDE-B7E3-F1E870A6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CHATBOT FAQ AKADEMIK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6D7B5-382D-41EF-A643-E9D0F62B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5D6A78"/>
                </a:solidFill>
              </a:defRPr>
            </a:pPr>
            <a:r>
              <a:rPr sz="1050" b="1" i="0">
                <a:solidFill>
                  <a:srgbClr val="5D6A78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E30A7-F3FB-4829-8BD2-E33472DF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071F3D"/>
                </a:solidFill>
              </a:defRPr>
            </a:pPr>
            <a:r>
              <a:rPr sz="2700" b="1" i="0">
                <a:solidFill>
                  <a:srgbClr val="071F3D"/>
                </a:solidFill>
              </a:rPr>
              <a:t>Slot filling dan konfirmasi multi-turn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E48FE-8750-42DA-8C2E-C6746330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ED088-9E8C-4C86-A304-0996F009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74345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F8675-C0F3-4155-ABD6-DC8F02AA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RULE-BASED SLOT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31DCC-63DF-43BA-B49C-3F24D6AB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82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071F3D"/>
                </a:solidFill>
              </a:defRPr>
            </a:pPr>
            <a:r>
              <a:rPr sz="1800" b="1" i="0">
                <a:solidFill>
                  <a:srgbClr val="071F3D"/>
                </a:solidFill>
              </a:rPr>
              <a:t>Regex mengekstrak informasi yang terstruktur.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CD9EA-CACC-414B-BDCB-C64671B8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solidFill>
              <a:srgbClr val="DDEB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4DA2"/>
                </a:solidFill>
              </a:defRPr>
            </a:pPr>
            <a:r>
              <a:rPr sz="900" b="1">
                <a:solidFill>
                  <a:srgbClr val="0B4DA2"/>
                </a:solidFill>
              </a:rPr>
              <a:t>NIM 10–12 DIGIT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AE882-E434-493E-BA5E-E2EC3045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F3D"/>
                </a:solidFill>
              </a:defRPr>
            </a:pPr>
            <a:r>
              <a:rPr sz="900" b="1">
                <a:solidFill>
                  <a:srgbClr val="071F3D"/>
                </a:solidFill>
              </a:rPr>
              <a:t>KODE MK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08BAD-2DBE-48C8-A62D-A7F6F5D5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5D6A78"/>
                </a:solidFill>
              </a:defRPr>
            </a:pPr>
            <a:r>
              <a:rPr sz="975" b="1" i="0">
                <a:solidFill>
                  <a:srgbClr val="5D6A78"/>
                </a:solidFill>
              </a:rPr>
              <a:t>Contoh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5F807-DCEC-4709-A399-C5CBB448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42232"/>
                </a:solidFill>
              </a:defRPr>
            </a:pPr>
            <a:r>
              <a:rPr sz="1500" b="1" i="0">
                <a:solidFill>
                  <a:srgbClr val="142232"/>
                </a:solidFill>
              </a:rPr>
              <a:t>41523120017 → 415******17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81294-8A11-455E-A7BF-6D082CCB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D6A78"/>
                </a:solidFill>
              </a:defRPr>
            </a:pPr>
            <a:r>
              <a:rPr sz="1125" b="0" i="0">
                <a:solidFill>
                  <a:srgbClr val="5D6A78"/>
                </a:solidFill>
              </a:rPr>
              <a:t>Log menyimpan versi NIM yang disamarkan.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9ED34-527C-45B5-9BF0-6EDF1E3D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52600"/>
            <a:ext cx="5905500" cy="4038600"/>
          </a:xfrm>
          <a:prstGeom xmlns:a="http://schemas.openxmlformats.org/drawingml/2006/main" prst="roundRect">
            <a:avLst>
              <a:gd name="adj" fmla="val 2830"/>
            </a:avLst>
          </a:prstGeom>
          <a:solidFill xmlns:a="http://schemas.openxmlformats.org/drawingml/2006/main">
            <a:srgbClr val="071F3D"/>
          </a:solidFill>
          <a:ln xmlns:a="http://schemas.openxmlformats.org/drawingml/2006/main" w="9525">
            <a:solidFill>
              <a:srgbClr val="071F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B5C0C-7E46-4320-8DAD-95EDE04F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2B84B"/>
                </a:solidFill>
              </a:defRPr>
            </a:pPr>
            <a:r>
              <a:rPr sz="900" b="1" i="0">
                <a:solidFill>
                  <a:srgbClr val="F2B84B"/>
                </a:solidFill>
              </a:rPr>
              <a:t>CONTOH DIALOG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1C620-220C-404F-BA30-12ADC133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146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AC4E0"/>
                </a:solidFill>
              </a:defRPr>
            </a:pPr>
            <a:r>
              <a:rPr sz="825" b="1" i="0">
                <a:solidFill>
                  <a:srgbClr val="AAC4E0"/>
                </a:solidFill>
              </a:rPr>
              <a:t>Mahasiswa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F182A9-A4B4-44B5-A084-DA77614F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403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Saya ingin mengisi KRS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C28FE-F764-46F0-B471-84FCB190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956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2B84B"/>
                </a:solidFill>
              </a:defRPr>
            </a:pPr>
            <a:r>
              <a:rPr sz="825" b="1" i="0">
                <a:solidFill>
                  <a:srgbClr val="F2B84B"/>
                </a:solidFill>
              </a:rPr>
              <a:t>Bot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ECD95-0487-4568-BDB8-4F6CC49C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76575"/>
            <a:ext cx="403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Masukkan NIM Anda.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C6CFD-BCD0-435E-B7D8-E8D5DD55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766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AC4E0"/>
                </a:solidFill>
              </a:defRPr>
            </a:pPr>
            <a:r>
              <a:rPr sz="825" b="1" i="0">
                <a:solidFill>
                  <a:srgbClr val="AAC4E0"/>
                </a:solidFill>
              </a:rPr>
              <a:t>Mahasiswa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E37E8-19B5-4C4B-BA23-588B6E64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57600"/>
            <a:ext cx="403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41523120017, pilih MK: 1,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BB75D-BE31-4926-97F6-6CCF6A0C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F2B84B"/>
                </a:solidFill>
              </a:defRPr>
            </a:pPr>
            <a:r>
              <a:rPr sz="825" b="1" i="0">
                <a:solidFill>
                  <a:srgbClr val="F2B84B"/>
                </a:solidFill>
              </a:rPr>
              <a:t>Bot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7D8F3-B9D1-48EA-BDD8-010E4735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38625"/>
            <a:ext cx="403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Konfirmasi data KRS tersebut? (ya/tidak)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A5097D-E321-4143-AE7A-FF22FF14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38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AC4E0"/>
                </a:solidFill>
              </a:defRPr>
            </a:pPr>
            <a:r>
              <a:rPr sz="825" b="1" i="0">
                <a:solidFill>
                  <a:srgbClr val="AAC4E0"/>
                </a:solidFill>
              </a:rPr>
              <a:t>Mahasiswa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D8137F-535B-4679-AA25-6AC034FA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19650"/>
            <a:ext cx="403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ya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BF3993-6338-4069-9DAB-A1F9451E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9CAC99-13E5-4BA4-908B-28BDAE4D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5D6A78"/>
                </a:solidFill>
              </a:defRPr>
            </a:pPr>
            <a:r>
              <a:rPr sz="750" b="0" i="0">
                <a:solidFill>
                  <a:srgbClr val="5D6A78"/>
                </a:solidFill>
              </a:rPr>
              <a:t>Universitas Mercu Buana • UAS NLP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B6FAD3-2A11-46C9-B7A9-B40CE284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5320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5D6A78"/>
                </a:solidFill>
              </a:defRPr>
            </a:pPr>
            <a:r>
              <a:rPr sz="750" b="1" i="0">
                <a:solidFill>
                  <a:srgbClr val="5D6A78"/>
                </a:solidFill>
              </a:rPr>
              <a:t>KELOMPOK 3 ORANG</a:t>
            </a:r>
          </a:p>
        </p:txBody>
      </p:sp>
    </p:spTree>
    <p:extLst>
      <p:ext uri="{BB962C8B-B14F-4D97-AF65-F5344CB8AC3E}">
        <p14:creationId xmlns:p14="http://schemas.microsoft.com/office/powerpoint/2010/main" val="15850044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D03D2-EE3F-4BC2-B6B6-02F275A5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CHATBOT FAQ AKADEMIK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218DF-899F-4AA0-B376-FDA94023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5D6A78"/>
                </a:solidFill>
              </a:defRPr>
            </a:pPr>
            <a:r>
              <a:rPr sz="1050" b="1" i="0">
                <a:solidFill>
                  <a:srgbClr val="5D6A78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560DB-CDD9-4F01-9C87-47FB070E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071F3D"/>
                </a:solidFill>
              </a:defRPr>
            </a:pPr>
            <a:r>
              <a:rPr sz="2700" b="1" i="0">
                <a:solidFill>
                  <a:srgbClr val="071F3D"/>
                </a:solidFill>
              </a:rPr>
              <a:t>Implementasi: CLI dan UI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F3C44-2CFF-4550-90A4-EEE65B4A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BCC9C-A63B-4098-BDBE-BBF5BBDA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197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071F3D"/>
          </a:solidFill>
          <a:ln xmlns:a="http://schemas.openxmlformats.org/drawingml/2006/main" w="9525">
            <a:solidFill>
              <a:srgbClr val="071F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9940B-E219-4342-832A-9343345B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2B84B"/>
                </a:solidFill>
              </a:defRPr>
            </a:pPr>
            <a:r>
              <a:rPr sz="2550" b="1" i="0">
                <a:solidFill>
                  <a:srgbClr val="F2B84B"/>
                </a:solidFill>
              </a:rPr>
              <a:t>CLI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78041-BAF6-4140-B6D0-C21F6469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46101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031426"/>
          </a:solidFill>
          <a:ln xmlns:a="http://schemas.openxmlformats.org/drawingml/2006/main" w="9525">
            <a:solidFill>
              <a:srgbClr val="2947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D1A6-2094-4B80-A2B9-B36CE73A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4114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0">
                <a:solidFill>
                  <a:srgbClr val="DDEBFA"/>
                </a:solidFill>
              </a:defRPr>
            </a:pPr>
            <a:r>
              <a:rPr sz="1050" b="0" i="0">
                <a:solidFill>
                  <a:srgbClr val="DDEBFA"/>
                </a:solidFill>
              </a:rPr>
              <a:t>$ python cli_app.py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50" b="0" i="0">
                <a:solidFill>
                  <a:srgbClr val="DDEBFA"/>
                </a:solidFill>
              </a:defRPr>
            </a:pPr>
            <a:r>
              <a:rPr sz="1050" b="0" i="0">
                <a:solidFill>
                  <a:srgbClr val="DDEBFA"/>
                </a:solidFill>
              </a:rPr>
              <a:t>Bot: Halo, saya UMB Academic Assistant.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50" b="0" i="0">
                <a:solidFill>
                  <a:srgbClr val="DDEBFA"/>
                </a:solidFill>
              </a:defRPr>
            </a:pPr>
            <a:r>
              <a:rPr sz="1050" b="0" i="0">
                <a:solidFill>
                  <a:srgbClr val="DDEBFA"/>
                </a:solidFill>
              </a:rPr>
              <a:t>Anda: kapan jadwal ujian?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50" b="0" i="0">
                <a:solidFill>
                  <a:srgbClr val="DDEBFA"/>
                </a:solidFill>
              </a:defRPr>
            </a:pPr>
            <a:r>
              <a:rPr sz="1050" b="0" i="0">
                <a:solidFill>
                  <a:srgbClr val="DDEBFA"/>
                </a:solidFill>
              </a:rPr>
              <a:t>Bot: Jadwal ujian dapat dilihat di portal...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50" b="0" i="0">
                <a:solidFill>
                  <a:srgbClr val="DDEBFA"/>
                </a:solidFill>
              </a:defRPr>
            </a:pPr>
            <a:r>
              <a:rPr sz="1050" b="0" i="0">
                <a:solidFill>
                  <a:srgbClr val="DDEBFA"/>
                </a:solidFill>
              </a:rPr>
              <a:t>[intent=jadwal_ujian | confidence=0.94]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527D3-342A-41FC-BC35-54E073E5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B9CBDE"/>
                </a:solidFill>
              </a:defRPr>
            </a:pPr>
            <a:r>
              <a:rPr sz="1050" b="0" i="0">
                <a:solidFill>
                  <a:srgbClr val="B9CBDE"/>
                </a:solidFill>
              </a:rPr>
              <a:t>Ringan • dapat diuji lewat terminal • cocok untuk demonstrasi logika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97516-5548-4902-A397-CB45F606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52197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4BB40-C824-4F64-84E6-0B209A7E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071F3D"/>
                </a:solidFill>
              </a:defRPr>
            </a:pPr>
            <a:r>
              <a:rPr sz="2550" b="1" i="0">
                <a:solidFill>
                  <a:srgbClr val="071F3D"/>
                </a:solidFill>
              </a:rPr>
              <a:t>WEB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66003-C0A3-46D7-921A-3B6AF7C9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46101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B06F7-9A71-470C-8117-38EF070F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146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F3D"/>
          </a:solidFill>
          <a:ln xmlns:a="http://schemas.openxmlformats.org/drawingml/2006/main" w="0">
            <a:solidFill>
              <a:srgbClr val="071F3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UMB ACADEMIC ASSISTANT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6DBC1-A037-4290-8C48-9E331BBE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48050"/>
            <a:ext cx="30861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D5509-3CE1-4017-A17D-2B8FDE0E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0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142232"/>
                </a:solidFill>
              </a:defRPr>
            </a:pPr>
            <a:r>
              <a:rPr sz="1125" b="0" i="0">
                <a:solidFill>
                  <a:srgbClr val="142232"/>
                </a:solidFill>
              </a:rPr>
              <a:t>Bagaimana cara isi KRS?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6302F-4BF8-43DE-A1AA-D15346C0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52900"/>
            <a:ext cx="3200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DDEB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97B20-1648-4F49-8EA5-6651764D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434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B4DA2"/>
                </a:solidFill>
              </a:defRPr>
            </a:pPr>
            <a:r>
              <a:rPr sz="1125" b="1" i="0">
                <a:solidFill>
                  <a:srgbClr val="0B4DA2"/>
                </a:solidFill>
              </a:rPr>
              <a:t>Silakan masukkan NIM Anda.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1608C-0C2C-404B-BF1D-4AA6FFCF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387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D6A78"/>
                </a:solidFill>
              </a:defRPr>
            </a:pPr>
            <a:r>
              <a:rPr sz="1050" b="0" i="0">
                <a:solidFill>
                  <a:srgbClr val="5D6A78"/>
                </a:solidFill>
              </a:rPr>
              <a:t>Quick actions • download log • state &amp; confidence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AC56D-0405-4D44-9AC3-A94B16E0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CB38C2-4D9C-41D5-BAA6-E83C2BAB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5D6A78"/>
                </a:solidFill>
              </a:defRPr>
            </a:pPr>
            <a:r>
              <a:rPr sz="750" b="0" i="0">
                <a:solidFill>
                  <a:srgbClr val="5D6A78"/>
                </a:solidFill>
              </a:rPr>
              <a:t>Universitas Mercu Buana • UAS NLP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CB17A-0336-4898-8B81-633DDBE5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5320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5D6A78"/>
                </a:solidFill>
              </a:defRPr>
            </a:pPr>
            <a:r>
              <a:rPr sz="750" b="1" i="0">
                <a:solidFill>
                  <a:srgbClr val="5D6A78"/>
                </a:solidFill>
              </a:rPr>
              <a:t>KELOMPOK 3 ORANG</a:t>
            </a:r>
          </a:p>
        </p:txBody>
      </p:sp>
    </p:spTree>
    <p:extLst>
      <p:ext uri="{BB962C8B-B14F-4D97-AF65-F5344CB8AC3E}">
        <p14:creationId xmlns:p14="http://schemas.microsoft.com/office/powerpoint/2010/main" val="4559140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343E95-F16C-4B7A-945D-FFBCE51A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CHATBOT FAQ AKADEMIK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95F16-5115-4E18-9C43-37AF2DA4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5D6A78"/>
                </a:solidFill>
              </a:defRPr>
            </a:pPr>
            <a:r>
              <a:rPr sz="1050" b="1" i="0">
                <a:solidFill>
                  <a:srgbClr val="5D6A78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6C053-9CCF-414A-936F-69DEBB64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071F3D"/>
                </a:solidFill>
              </a:defRPr>
            </a:pPr>
            <a:r>
              <a:rPr sz="2700" b="1" i="0">
                <a:solidFill>
                  <a:srgbClr val="071F3D"/>
                </a:solidFill>
              </a:rPr>
              <a:t>Hasil Evaluasi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A9283-2AB7-463E-9C84-9616E000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BC32C-13F9-4D35-AC4B-33D32751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210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400" b="1" i="0">
                <a:solidFill>
                  <a:srgbClr val="0B4DA2"/>
                </a:solidFill>
              </a:defRPr>
            </a:pPr>
            <a:r>
              <a:rPr sz="8400" b="1" i="0">
                <a:solidFill>
                  <a:srgbClr val="0B4DA2"/>
                </a:solidFill>
              </a:rPr>
              <a:t>98%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78D4F-E305-4A32-8619-AF0CDD3C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071F3D"/>
                </a:solidFill>
              </a:defRPr>
            </a:pPr>
            <a:r>
              <a:rPr sz="1500" b="1" i="0">
                <a:solidFill>
                  <a:srgbClr val="071F3D"/>
                </a:solidFill>
              </a:rPr>
              <a:t>accuracy pada 50 data uji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0CF2A-6CE3-4E28-ADEB-E56FA974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D6A78"/>
                </a:solidFill>
              </a:defRPr>
            </a:pPr>
            <a:r>
              <a:rPr sz="1275" b="0" i="0">
                <a:solidFill>
                  <a:srgbClr val="5D6A78"/>
                </a:solidFill>
              </a:rPr>
              <a:t>Dataset dibagi secara stratified: 200 train dan 50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F005A-4C6A-4780-A966-042AEC94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29337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629A1-7320-4D4E-BB6F-E5B1C941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478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3D"/>
          </a:solidFill>
          <a:ln xmlns:a="http://schemas.openxmlformats.org/drawingml/2006/main" w="0">
            <a:solidFill>
              <a:srgbClr val="071F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13CF8-8CCC-49A4-946A-CC8A94E5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193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071F3D"/>
                </a:solidFill>
              </a:defRPr>
            </a:pPr>
            <a:r>
              <a:rPr sz="3150" b="1" i="0">
                <a:solidFill>
                  <a:srgbClr val="071F3D"/>
                </a:solidFill>
              </a:rPr>
              <a:t>98.18%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9C53F-1617-49E4-BFED-B2929B57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47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D6A78"/>
                </a:solidFill>
              </a:defRPr>
            </a:pPr>
            <a:r>
              <a:rPr sz="1125" b="1" i="0">
                <a:solidFill>
                  <a:srgbClr val="5D6A78"/>
                </a:solidFill>
              </a:rPr>
              <a:t>MACRO PRECISION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D9D09-ABF8-48F9-B23B-8851BACF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47850"/>
            <a:ext cx="29337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372F1-4A8A-43A9-A86D-86F51B28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478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D7AA4-C836-4853-B899-1D3FC219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193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2B84B"/>
                </a:solidFill>
              </a:defRPr>
            </a:pPr>
            <a:r>
              <a:rPr sz="3150" b="1" i="0">
                <a:solidFill>
                  <a:srgbClr val="F2B84B"/>
                </a:solidFill>
              </a:rPr>
              <a:t>98.00%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8A410-C150-4297-BFAB-638BB570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47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D6A78"/>
                </a:solidFill>
              </a:defRPr>
            </a:pPr>
            <a:r>
              <a:rPr sz="1125" b="1" i="0">
                <a:solidFill>
                  <a:srgbClr val="5D6A78"/>
                </a:solidFill>
              </a:rPr>
              <a:t>MACRO RECALL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BD1D8-22C8-4854-A19D-3B1A5229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09950"/>
            <a:ext cx="29337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E3123-87FB-4BD1-9A98-249AD1D5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099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5C"/>
          </a:solidFill>
          <a:ln xmlns:a="http://schemas.openxmlformats.org/drawingml/2006/main" w="0">
            <a:solidFill>
              <a:srgbClr val="1B7F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BA5E4-C46B-4BDC-A42F-0C13DE90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814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B7F5C"/>
                </a:solidFill>
              </a:defRPr>
            </a:pPr>
            <a:r>
              <a:rPr sz="3150" b="1" i="0">
                <a:solidFill>
                  <a:srgbClr val="1B7F5C"/>
                </a:solidFill>
              </a:rPr>
              <a:t>97.99%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6B67D-7BD2-4274-9631-C3952102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1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D6A78"/>
                </a:solidFill>
              </a:defRPr>
            </a:pPr>
            <a:r>
              <a:rPr sz="1125" b="1" i="0">
                <a:solidFill>
                  <a:srgbClr val="5D6A78"/>
                </a:solidFill>
              </a:rPr>
              <a:t>MACRO F1-SCORE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7CE24-E0CB-4891-A94B-4E6054C8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9950"/>
            <a:ext cx="29337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0A3931-80F0-47A9-9646-6CD1A310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9950"/>
            <a:ext cx="76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DA2"/>
          </a:solidFill>
          <a:ln xmlns:a="http://schemas.openxmlformats.org/drawingml/2006/main" w="0">
            <a:solidFill>
              <a:srgbClr val="0B4DA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827899-43E1-4BDE-AB74-2C269AFF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0B4DA2"/>
                </a:solidFill>
              </a:defRPr>
            </a:pPr>
            <a:r>
              <a:rPr sz="3150" b="1" i="0">
                <a:solidFill>
                  <a:srgbClr val="0B4DA2"/>
                </a:solidFill>
              </a:rPr>
              <a:t>49/50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E0E9B-6462-42AC-B895-51CC083B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10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5D6A78"/>
                </a:solidFill>
              </a:defRPr>
            </a:pPr>
            <a:r>
              <a:rPr sz="1125" b="1" i="0">
                <a:solidFill>
                  <a:srgbClr val="5D6A78"/>
                </a:solidFill>
              </a:rPr>
              <a:t>PREDIKSI BENAR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4816B0-37BB-4579-8528-09DE9341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72050"/>
            <a:ext cx="6057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DDEB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DD064-37BA-4786-875C-E0796D93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816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071F3D"/>
                </a:solidFill>
              </a:defRPr>
            </a:pPr>
            <a:r>
              <a:rPr sz="1200" b="1" i="0">
                <a:solidFill>
                  <a:srgbClr val="071F3D"/>
                </a:solidFill>
              </a:rPr>
              <a:t>Interpretasi: performa tinggi pada data uji internal, tetapi belum menjamin generalisasi pada bahasa mahasiswa di dunia nyata.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AF670-4FD6-47BD-9449-108FE648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DBBDFE-F12F-4A1F-BE90-0762D4FF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5D6A78"/>
                </a:solidFill>
              </a:defRPr>
            </a:pPr>
            <a:r>
              <a:rPr sz="750" b="0" i="0">
                <a:solidFill>
                  <a:srgbClr val="5D6A78"/>
                </a:solidFill>
              </a:rPr>
              <a:t>Universitas Mercu Buana • UAS NLP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EA9859-DC36-40FF-A861-632C6398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5320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5D6A78"/>
                </a:solidFill>
              </a:defRPr>
            </a:pPr>
            <a:r>
              <a:rPr sz="750" b="1" i="0">
                <a:solidFill>
                  <a:srgbClr val="5D6A78"/>
                </a:solidFill>
              </a:rPr>
              <a:t>KELOMPOK 3 ORANG</a:t>
            </a:r>
          </a:p>
        </p:txBody>
      </p:sp>
    </p:spTree>
    <p:extLst>
      <p:ext uri="{BB962C8B-B14F-4D97-AF65-F5344CB8AC3E}">
        <p14:creationId xmlns:p14="http://schemas.microsoft.com/office/powerpoint/2010/main" val="16948943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FD4EB-0706-4591-B5AA-00098A90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CHATBOT FAQ AKADEMIK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5223F-F743-4DBC-8553-500E5107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5D6A78"/>
                </a:solidFill>
              </a:defRPr>
            </a:pPr>
            <a:r>
              <a:rPr sz="1050" b="1" i="0">
                <a:solidFill>
                  <a:srgbClr val="5D6A78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A56EC-022F-4518-81C2-466F4E88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071F3D"/>
                </a:solidFill>
              </a:defRPr>
            </a:pPr>
            <a:r>
              <a:rPr sz="2700" b="1" i="0">
                <a:solidFill>
                  <a:srgbClr val="071F3D"/>
                </a:solidFill>
              </a:rPr>
              <a:t>Confusion matrix dan analisis kesalahan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89002-E45B-4368-8F6B-46216EFB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f34e24ea3a45ed"/>
          <a:stretch xmlns:a="http://schemas.openxmlformats.org/drawingml/2006/main"/>
        </p:blipFill>
        <p:spPr>
          <a:xfrm xmlns:a="http://schemas.openxmlformats.org/drawingml/2006/main">
            <a:off x="1020062" y="1752600"/>
            <a:ext cx="4798826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D6493-5DEE-4D1C-8547-82DD96F8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50101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50170-03FE-4368-A9B3-142B8873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383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4E4"/>
          </a:solidFill>
          <a:ln xmlns:a="http://schemas.openxmlformats.org/drawingml/2006/main" w="0">
            <a:solidFill>
              <a:srgbClr val="F8E4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64747"/>
                </a:solidFill>
              </a:defRPr>
            </a:pPr>
            <a:r>
              <a:rPr sz="900" b="1">
                <a:solidFill>
                  <a:srgbClr val="B64747"/>
                </a:solidFill>
              </a:rPr>
              <a:t>1 KESALAHAN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510C6-1E7C-44C0-A498-7209248A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670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D6A78"/>
                </a:solidFill>
              </a:defRPr>
            </a:pPr>
            <a:r>
              <a:rPr sz="900" b="1" i="0">
                <a:solidFill>
                  <a:srgbClr val="5D6A78"/>
                </a:solidFill>
              </a:rPr>
              <a:t>Aktual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F5B3D-E770-428C-ADD5-A29E9E89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071F3D"/>
                </a:solidFill>
              </a:defRPr>
            </a:pPr>
            <a:r>
              <a:rPr sz="1275" b="1" i="0">
                <a:solidFill>
                  <a:srgbClr val="071F3D"/>
                </a:solidFill>
              </a:rPr>
              <a:t>pendaftaran_krs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D75A9-7BDD-45A8-A6FB-A2CF388F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051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D6A78"/>
                </a:solidFill>
              </a:defRPr>
            </a:pPr>
            <a:r>
              <a:rPr sz="900" b="1" i="0">
                <a:solidFill>
                  <a:srgbClr val="5D6A78"/>
                </a:solidFill>
              </a:rPr>
              <a:t>Prediksi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2C0DB-B6D9-4ED3-895F-25513933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86100"/>
            <a:ext cx="327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B64747"/>
                </a:solidFill>
              </a:defRPr>
            </a:pPr>
            <a:r>
              <a:rPr sz="1275" b="1" i="0">
                <a:solidFill>
                  <a:srgbClr val="B64747"/>
                </a:solidFill>
              </a:rPr>
              <a:t>syarat_beasiswa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656AC-48A4-4DB0-BE42-2DE2926D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81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D6A78"/>
                </a:solidFill>
              </a:defRPr>
            </a:pPr>
            <a:r>
              <a:rPr sz="900" b="1" i="0">
                <a:solidFill>
                  <a:srgbClr val="5D6A78"/>
                </a:solidFill>
              </a:rPr>
              <a:t>Kalimat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8E0A0-308A-419F-9CB5-3FEC4CB3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24250"/>
            <a:ext cx="327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1">
                <a:solidFill>
                  <a:srgbClr val="142232"/>
                </a:solidFill>
              </a:defRPr>
            </a:pPr>
            <a:r>
              <a:rPr sz="1200" b="0" i="1">
                <a:solidFill>
                  <a:srgbClr val="142232"/>
                </a:solidFill>
              </a:rPr>
              <a:t>"saya ingin daftar mata kuliah semester depan"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4DD3D-F018-4AEE-9EA6-37F5DE6A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05300"/>
            <a:ext cx="421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3B899-9D00-4067-96B4-3CEAE582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33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Penyebab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CDCC3-AADA-4BD2-9B88-05983B65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768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D6A78"/>
                </a:solidFill>
              </a:defRPr>
            </a:pPr>
            <a:r>
              <a:rPr sz="1200" b="0" i="0">
                <a:solidFill>
                  <a:srgbClr val="5D6A78"/>
                </a:solidFill>
              </a:rPr>
              <a:t>Kata “daftar” dan konteks “semester depan” muncul pada beberapa domain sehingga batas intent berdekatan.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FFCE53-02FF-407E-B050-F354089B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4260BD-3B2B-490A-A44B-3453026B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5D6A78"/>
                </a:solidFill>
              </a:defRPr>
            </a:pPr>
            <a:r>
              <a:rPr sz="750" b="0" i="0">
                <a:solidFill>
                  <a:srgbClr val="5D6A78"/>
                </a:solidFill>
              </a:rPr>
              <a:t>Universitas Mercu Buana • UAS NLP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181DC-57CB-4665-AA7E-C9EEF6D4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5320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5D6A78"/>
                </a:solidFill>
              </a:defRPr>
            </a:pPr>
            <a:r>
              <a:rPr sz="750" b="1" i="0">
                <a:solidFill>
                  <a:srgbClr val="5D6A78"/>
                </a:solidFill>
              </a:rPr>
              <a:t>KELOMPOK 3 ORANG</a:t>
            </a:r>
          </a:p>
        </p:txBody>
      </p:sp>
    </p:spTree>
    <p:extLst>
      <p:ext uri="{BB962C8B-B14F-4D97-AF65-F5344CB8AC3E}">
        <p14:creationId xmlns:p14="http://schemas.microsoft.com/office/powerpoint/2010/main" val="12614119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B956B-66B1-42CC-9DD9-00E49C7C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CHATBOT FAQ AKADEMIK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24FD6-0A5A-4473-9BA1-0858806B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5D6A78"/>
                </a:solidFill>
              </a:defRPr>
            </a:pPr>
            <a:r>
              <a:rPr sz="1050" b="1" i="0">
                <a:solidFill>
                  <a:srgbClr val="5D6A78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26098-F475-4D44-B19B-2DA66C69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071F3D"/>
                </a:solidFill>
              </a:defRPr>
            </a:pPr>
            <a:r>
              <a:rPr sz="2700" b="1" i="0">
                <a:solidFill>
                  <a:srgbClr val="071F3D"/>
                </a:solidFill>
              </a:rPr>
              <a:t>Rencana Demo — tiga skenario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89359-50C8-4E64-BCBE-D44E9A9A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4B8FF-2D9E-460F-924E-9CCD68CB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4F82F-5806-4B26-AF9A-97503B05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0B4DA2"/>
                </a:solidFill>
              </a:defRPr>
            </a:pPr>
            <a:r>
              <a:rPr sz="2175" b="1" i="0">
                <a:solidFill>
                  <a:srgbClr val="0B4DA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FC4A9-5F3A-43F4-B356-64055BC1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071F3D"/>
                </a:solidFill>
              </a:defRPr>
            </a:pPr>
            <a:r>
              <a:rPr sz="1650" b="1" i="0">
                <a:solidFill>
                  <a:srgbClr val="071F3D"/>
                </a:solidFill>
              </a:rPr>
              <a:t>FAQ langsung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7D86D-F36F-4AEB-BB3C-5A67716A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90725"/>
            <a:ext cx="489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D6A78"/>
                </a:solidFill>
              </a:defRPr>
            </a:pPr>
            <a:r>
              <a:rPr sz="1200" b="0" i="0">
                <a:solidFill>
                  <a:srgbClr val="5D6A78"/>
                </a:solidFill>
              </a:rPr>
              <a:t>Tanya jadwal ujian → model memberi respons dan confidence.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0A342-306A-4C69-BB9A-6B5BE5A5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24075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solidFill>
              <a:srgbClr val="DDEB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F3D"/>
                </a:solidFill>
              </a:defRPr>
            </a:pPr>
            <a:r>
              <a:rPr sz="900" b="1">
                <a:solidFill>
                  <a:srgbClr val="071F3D"/>
                </a:solidFill>
              </a:rPr>
              <a:t>jadwal_ujian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48DE4-4070-4873-A2E0-03C9BBE6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71F3D"/>
          </a:solidFill>
          <a:ln xmlns:a="http://schemas.openxmlformats.org/drawingml/2006/main" w="9525">
            <a:solidFill>
              <a:srgbClr val="071F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1C4B2-8EF5-423A-B1AD-D600C9F2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F2B84B"/>
                </a:solidFill>
              </a:defRPr>
            </a:pPr>
            <a:r>
              <a:rPr sz="2175" b="1" i="0">
                <a:solidFill>
                  <a:srgbClr val="F2B84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0936B-4BDF-47ED-BF51-3D52B11C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71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KRS multi-turn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0FFCD-9FEB-4819-84A2-9B137EAA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81375"/>
            <a:ext cx="489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D8E3EF"/>
                </a:solidFill>
              </a:defRPr>
            </a:pPr>
            <a:r>
              <a:rPr sz="1200" b="0" i="0">
                <a:solidFill>
                  <a:srgbClr val="D8E3EF"/>
                </a:solidFill>
              </a:rPr>
              <a:t>Intent KRS → NIM → kode MK → konfirmasi ya/tidak.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46DF5-A736-4D51-8096-92C34FEA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14725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F3D"/>
                </a:solidFill>
              </a:defRPr>
            </a:pPr>
            <a:r>
              <a:rPr sz="900" b="1">
                <a:solidFill>
                  <a:srgbClr val="071F3D"/>
                </a:solidFill>
              </a:rPr>
              <a:t>pendaftaran_krs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2E9A7-B52E-4536-B5E8-B65B58CC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327D2-33F2-4861-95E4-F3140519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 i="0">
                <a:solidFill>
                  <a:srgbClr val="0B4DA2"/>
                </a:solidFill>
              </a:defRPr>
            </a:pPr>
            <a:r>
              <a:rPr sz="2175" b="1" i="0">
                <a:solidFill>
                  <a:srgbClr val="0B4DA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19706-C50D-405D-A1FE-9BFBA704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071F3D"/>
                </a:solidFill>
              </a:defRPr>
            </a:pPr>
            <a:r>
              <a:rPr sz="1650" b="1" i="0">
                <a:solidFill>
                  <a:srgbClr val="071F3D"/>
                </a:solidFill>
              </a:rPr>
              <a:t>Portal &amp; 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D4517-DBCD-4A70-9993-DDCD3D04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72025"/>
            <a:ext cx="489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5D6A78"/>
                </a:solidFill>
              </a:defRPr>
            </a:pPr>
            <a:r>
              <a:rPr sz="1200" b="0" i="0">
                <a:solidFill>
                  <a:srgbClr val="5D6A78"/>
                </a:solidFill>
              </a:rPr>
              <a:t>Tanya akses portal → tampilkan jawaban → unduh log CSV.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513A0-26E0-44DB-907B-7A92F087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05375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0">
            <a:solidFill>
              <a:srgbClr val="DDEB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F3D"/>
                </a:solidFill>
              </a:defRPr>
            </a:pPr>
            <a:r>
              <a:rPr sz="900" b="1">
                <a:solidFill>
                  <a:srgbClr val="071F3D"/>
                </a:solidFill>
              </a:rPr>
              <a:t>akses_portal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71851D-006A-4842-B6C8-F83E2EFB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0B4DA2"/>
                </a:solidFill>
              </a:defRPr>
            </a:pPr>
            <a:r>
              <a:rPr sz="1275" b="1" i="0">
                <a:solidFill>
                  <a:srgbClr val="0B4DA2"/>
                </a:solidFill>
              </a:rPr>
              <a:t>Tunjukkan CLI terlebih dahulu, lalu UI agar logika sistem dan pengalaman pengguna sama-sama terlihat.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7716F-2BE6-4F7D-AD9F-A0EB7235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B46917-7700-42F4-8ACD-1C1BF818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5D6A78"/>
                </a:solidFill>
              </a:defRPr>
            </a:pPr>
            <a:r>
              <a:rPr sz="750" b="0" i="0">
                <a:solidFill>
                  <a:srgbClr val="5D6A78"/>
                </a:solidFill>
              </a:rPr>
              <a:t>Universitas Mercu Buana • UAS NLP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09A11E-FC3E-47B3-BEB6-4E593BA1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5320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5D6A78"/>
                </a:solidFill>
              </a:defRPr>
            </a:pPr>
            <a:r>
              <a:rPr sz="750" b="1" i="0">
                <a:solidFill>
                  <a:srgbClr val="5D6A78"/>
                </a:solidFill>
              </a:rPr>
              <a:t>KELOMPOK 3 ORANG</a:t>
            </a:r>
          </a:p>
        </p:txBody>
      </p:sp>
    </p:spTree>
    <p:extLst>
      <p:ext uri="{BB962C8B-B14F-4D97-AF65-F5344CB8AC3E}">
        <p14:creationId xmlns:p14="http://schemas.microsoft.com/office/powerpoint/2010/main" val="20967435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222C5-07BF-4C7C-96EA-31435CA6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CHATBOT FAQ AKADEMIK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E206E-1BB7-48B9-9E7F-127D2C7E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5D6A78"/>
                </a:solidFill>
              </a:defRPr>
            </a:pPr>
            <a:r>
              <a:rPr sz="1050" b="1" i="0">
                <a:solidFill>
                  <a:srgbClr val="5D6A78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F4297-1F62-4586-8072-974E33B7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071F3D"/>
                </a:solidFill>
              </a:defRPr>
            </a:pPr>
            <a:r>
              <a:rPr sz="2700" b="1" i="0">
                <a:solidFill>
                  <a:srgbClr val="071F3D"/>
                </a:solidFill>
              </a:rPr>
              <a:t>Kesimpulan dan pengembangan berikutnya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AF787-FC2B-4CFF-818F-B377863D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8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3F56F-4A8D-4F4D-B5CC-D3DAD9C9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197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071F3D"/>
          </a:solidFill>
          <a:ln xmlns:a="http://schemas.openxmlformats.org/drawingml/2006/main" w="9525">
            <a:solidFill>
              <a:srgbClr val="071F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C1B5D-61C3-475F-95E9-DDC977DB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2B84B"/>
                </a:solidFill>
              </a:defRPr>
            </a:pPr>
            <a:r>
              <a:rPr sz="900" b="1" i="0">
                <a:solidFill>
                  <a:srgbClr val="F2B84B"/>
                </a:solidFill>
              </a:rPr>
              <a:t>KESIMPULAN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D8004-82A0-4999-9CE0-E0E4512F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229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Chatbot memenuhi seluruh komponen minimum UAS: data, NLP, dialog multi-turn, evaluasi, CLI, UI, dan logging.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5B60A-16AD-4B11-AFC9-C94F4F8E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521970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98D9B-AE48-46FC-BD05-4CB4B00E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B64747"/>
                </a:solidFill>
              </a:defRPr>
            </a:pPr>
            <a:r>
              <a:rPr sz="900" b="1" i="0">
                <a:solidFill>
                  <a:srgbClr val="B64747"/>
                </a:solidFill>
              </a:rPr>
              <a:t>KETERBATASAN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BB5C1-1140-440A-A4BF-5CD19637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BECAB-53E7-4386-AAB2-B4693F04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33650"/>
            <a:ext cx="4133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42232"/>
                </a:solidFill>
              </a:defRPr>
            </a:pPr>
            <a:r>
              <a:rPr sz="1275" b="0" i="0">
                <a:solidFill>
                  <a:srgbClr val="142232"/>
                </a:solidFill>
              </a:rPr>
              <a:t>Dataset masih sintetis dan domain terbatas.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D89D8-CB8B-4953-A4F3-B0DC92B4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D7059-602C-4762-AA2F-B8F78255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86100"/>
            <a:ext cx="4133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42232"/>
                </a:solidFill>
              </a:defRPr>
            </a:pPr>
            <a:r>
              <a:rPr sz="1275" b="0" i="0">
                <a:solidFill>
                  <a:srgbClr val="142232"/>
                </a:solidFill>
              </a:rPr>
              <a:t>Regex belum mencakup semua variasi slot.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DEC58-3498-40EE-AAF9-CA5587C0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D8548-3082-40C8-BCB9-022951FD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38550"/>
            <a:ext cx="4133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42232"/>
                </a:solidFill>
              </a:defRPr>
            </a:pPr>
            <a:r>
              <a:rPr sz="1275" b="0" i="0">
                <a:solidFill>
                  <a:srgbClr val="142232"/>
                </a:solidFill>
              </a:rPr>
              <a:t>Belum terhubung ke sistem akademik resmi.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CA83A-5961-45CB-8515-14004A19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DDEB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DFE9D-2605-4CC0-AA93-B08B4CC0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B4DA2"/>
                </a:solidFill>
              </a:defRPr>
            </a:pPr>
            <a:r>
              <a:rPr sz="900" b="1" i="0">
                <a:solidFill>
                  <a:srgbClr val="0B4DA2"/>
                </a:solidFill>
              </a:rPr>
              <a:t>PEMBAGIAN TUGAS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F935E-E30D-4588-BFE4-82981C7C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14900"/>
            <a:ext cx="262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71F3D"/>
                </a:solidFill>
              </a:defRPr>
            </a:pPr>
            <a:r>
              <a:rPr sz="1200" b="1" i="0">
                <a:solidFill>
                  <a:srgbClr val="071F3D"/>
                </a:solidFill>
              </a:rPr>
              <a:t>Anggota 1 — dataset &amp; NLP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76BD9-0B74-49AB-88D1-17CDA092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149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71F3D"/>
                </a:solidFill>
              </a:defRPr>
            </a:pPr>
            <a:r>
              <a:rPr sz="1200" b="1" i="0">
                <a:solidFill>
                  <a:srgbClr val="071F3D"/>
                </a:solidFill>
              </a:rPr>
              <a:t>Anggota 2 — dialog &amp; pengujian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0C9A3D-43DD-47B6-AE5D-97651BAE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149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71F3D"/>
                </a:solidFill>
              </a:defRPr>
            </a:pPr>
            <a:r>
              <a:rPr sz="1200" b="1" i="0">
                <a:solidFill>
                  <a:srgbClr val="071F3D"/>
                </a:solidFill>
              </a:rPr>
              <a:t>Anggota 3 — UI &amp; dokumentasi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F89A5-28C7-45D3-8042-4CED0A41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851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1">
                <a:solidFill>
                  <a:srgbClr val="5D6A78"/>
                </a:solidFill>
              </a:defRPr>
            </a:pPr>
            <a:r>
              <a:rPr sz="975" b="0" i="1">
                <a:solidFill>
                  <a:srgbClr val="5D6A78"/>
                </a:solidFill>
              </a:rPr>
              <a:t>Ganti placeholder nama anggota sebelum pengumpulan.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0BAF1-A15F-449A-9980-E316FC58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A8DDD-1447-4BC8-8A06-12947C96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5D6A78"/>
                </a:solidFill>
              </a:defRPr>
            </a:pPr>
            <a:r>
              <a:rPr sz="750" b="0" i="0">
                <a:solidFill>
                  <a:srgbClr val="5D6A78"/>
                </a:solidFill>
              </a:rPr>
              <a:t>Terima kasih • Tanya jawab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DE05E-EF61-4A5C-88EC-1E3BC66D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53200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5D6A78"/>
                </a:solidFill>
              </a:defRPr>
            </a:pPr>
            <a:r>
              <a:rPr sz="750" b="1" i="0">
                <a:solidFill>
                  <a:srgbClr val="5D6A78"/>
                </a:solidFill>
              </a:rPr>
              <a:t>KELOMPOK 3 ORANG</a:t>
            </a:r>
          </a:p>
        </p:txBody>
      </p:sp>
    </p:spTree>
    <p:extLst>
      <p:ext uri="{BB962C8B-B14F-4D97-AF65-F5344CB8AC3E}">
        <p14:creationId xmlns:p14="http://schemas.microsoft.com/office/powerpoint/2010/main" val="1659316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2026-07-27T06:35:41.4630000Z</dcterms:created>
  <dcterms:modified xsi:type="dcterms:W3CDTF">2026-07-27T06:35:41.4630000Z</dcterms:modified>
</coreProperties>
</file>